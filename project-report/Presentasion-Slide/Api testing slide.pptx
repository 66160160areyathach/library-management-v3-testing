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nantason Bold" charset="1" panose="00000000000000000000"/>
      <p:regular r:id="rId23"/>
    </p:embeddedFont>
    <p:embeddedFont>
      <p:font typeface="Anantason Light" charset="1" panose="00000000000000000000"/>
      <p:regular r:id="rId24"/>
    </p:embeddedFont>
    <p:embeddedFont>
      <p:font typeface="Anantason" charset="1" panose="00000000000000000000"/>
      <p:regular r:id="rId25"/>
    </p:embeddedFont>
    <p:embeddedFont>
      <p:font typeface="Anantason Semi-Bold" charset="1" panose="00000000000000000000"/>
      <p:regular r:id="rId26"/>
    </p:embeddedFont>
    <p:embeddedFont>
      <p:font typeface="Pridi" charset="1" panose="00000500000000000000"/>
      <p:regular r:id="rId27"/>
    </p:embeddedFont>
    <p:embeddedFont>
      <p:font typeface="Anantason Medium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7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2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039391" y="-188900"/>
            <a:ext cx="10920886" cy="5797998"/>
          </a:xfrm>
          <a:custGeom>
            <a:avLst/>
            <a:gdLst/>
            <a:ahLst/>
            <a:cxnLst/>
            <a:rect r="r" b="b" t="t" l="l"/>
            <a:pathLst>
              <a:path h="5797998" w="10920886">
                <a:moveTo>
                  <a:pt x="10920886" y="0"/>
                </a:moveTo>
                <a:lnTo>
                  <a:pt x="0" y="0"/>
                </a:lnTo>
                <a:lnTo>
                  <a:pt x="0" y="5797998"/>
                </a:lnTo>
                <a:lnTo>
                  <a:pt x="10920886" y="5797998"/>
                </a:lnTo>
                <a:lnTo>
                  <a:pt x="109208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5862298" y="7720628"/>
            <a:ext cx="10920886" cy="5797998"/>
          </a:xfrm>
          <a:custGeom>
            <a:avLst/>
            <a:gdLst/>
            <a:ahLst/>
            <a:cxnLst/>
            <a:rect r="r" b="b" t="t" l="l"/>
            <a:pathLst>
              <a:path h="5797998" w="10920886">
                <a:moveTo>
                  <a:pt x="10920886" y="0"/>
                </a:moveTo>
                <a:lnTo>
                  <a:pt x="0" y="0"/>
                </a:lnTo>
                <a:lnTo>
                  <a:pt x="0" y="5797998"/>
                </a:lnTo>
                <a:lnTo>
                  <a:pt x="10920886" y="5797998"/>
                </a:lnTo>
                <a:lnTo>
                  <a:pt x="109208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0402" y="8155628"/>
            <a:ext cx="1918517" cy="1918517"/>
          </a:xfrm>
          <a:custGeom>
            <a:avLst/>
            <a:gdLst/>
            <a:ahLst/>
            <a:cxnLst/>
            <a:rect r="r" b="b" t="t" l="l"/>
            <a:pathLst>
              <a:path h="1918517" w="1918517">
                <a:moveTo>
                  <a:pt x="0" y="0"/>
                </a:moveTo>
                <a:lnTo>
                  <a:pt x="1918518" y="0"/>
                </a:lnTo>
                <a:lnTo>
                  <a:pt x="1918518" y="1918517"/>
                </a:lnTo>
                <a:lnTo>
                  <a:pt x="0" y="19185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1868547"/>
            <a:ext cx="7877980" cy="7265390"/>
            <a:chOff x="0" y="0"/>
            <a:chExt cx="2074859" cy="19135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4859" cy="1913518"/>
            </a:xfrm>
            <a:custGeom>
              <a:avLst/>
              <a:gdLst/>
              <a:ahLst/>
              <a:cxnLst/>
              <a:rect r="r" b="b" t="t" l="l"/>
              <a:pathLst>
                <a:path h="1913518" w="2074859">
                  <a:moveTo>
                    <a:pt x="0" y="0"/>
                  </a:moveTo>
                  <a:lnTo>
                    <a:pt x="2074859" y="0"/>
                  </a:lnTo>
                  <a:lnTo>
                    <a:pt x="2074859" y="1913518"/>
                  </a:lnTo>
                  <a:lnTo>
                    <a:pt x="0" y="1913518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74859" cy="1951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035692" y="1883999"/>
            <a:ext cx="20815129" cy="7249938"/>
            <a:chOff x="0" y="0"/>
            <a:chExt cx="4116507" cy="14337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17" y="0"/>
              <a:ext cx="4113273" cy="1433785"/>
            </a:xfrm>
            <a:custGeom>
              <a:avLst/>
              <a:gdLst/>
              <a:ahLst/>
              <a:cxnLst/>
              <a:rect r="r" b="b" t="t" l="l"/>
              <a:pathLst>
                <a:path h="1433785" w="4113273">
                  <a:moveTo>
                    <a:pt x="213857" y="0"/>
                  </a:moveTo>
                  <a:lnTo>
                    <a:pt x="3899415" y="0"/>
                  </a:lnTo>
                  <a:cubicBezTo>
                    <a:pt x="3906456" y="0"/>
                    <a:pt x="3912424" y="5181"/>
                    <a:pt x="3913412" y="12152"/>
                  </a:cubicBezTo>
                  <a:lnTo>
                    <a:pt x="4113167" y="1421632"/>
                  </a:lnTo>
                  <a:cubicBezTo>
                    <a:pt x="4113600" y="1424689"/>
                    <a:pt x="4112687" y="1427784"/>
                    <a:pt x="4110663" y="1430115"/>
                  </a:cubicBezTo>
                  <a:cubicBezTo>
                    <a:pt x="4108638" y="1432446"/>
                    <a:pt x="4105703" y="1433785"/>
                    <a:pt x="4102615" y="1433785"/>
                  </a:cubicBezTo>
                  <a:lnTo>
                    <a:pt x="10657" y="1433785"/>
                  </a:lnTo>
                  <a:cubicBezTo>
                    <a:pt x="7570" y="1433785"/>
                    <a:pt x="4634" y="1432446"/>
                    <a:pt x="2610" y="1430115"/>
                  </a:cubicBezTo>
                  <a:cubicBezTo>
                    <a:pt x="586" y="1427784"/>
                    <a:pt x="-328" y="1424689"/>
                    <a:pt x="105" y="1421632"/>
                  </a:cubicBezTo>
                  <a:lnTo>
                    <a:pt x="199861" y="12152"/>
                  </a:lnTo>
                  <a:cubicBezTo>
                    <a:pt x="200849" y="5181"/>
                    <a:pt x="206816" y="0"/>
                    <a:pt x="21385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-38100"/>
              <a:ext cx="3862507" cy="1471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503010" y="201641"/>
            <a:ext cx="3784990" cy="1654118"/>
          </a:xfrm>
          <a:custGeom>
            <a:avLst/>
            <a:gdLst/>
            <a:ahLst/>
            <a:cxnLst/>
            <a:rect r="r" b="b" t="t" l="l"/>
            <a:pathLst>
              <a:path h="1654118" w="3784990">
                <a:moveTo>
                  <a:pt x="0" y="0"/>
                </a:moveTo>
                <a:lnTo>
                  <a:pt x="3784990" y="0"/>
                </a:lnTo>
                <a:lnTo>
                  <a:pt x="3784990" y="1654118"/>
                </a:lnTo>
                <a:lnTo>
                  <a:pt x="0" y="1654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687" t="-43580" r="0" b="-26796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186357" y="201641"/>
            <a:ext cx="1316653" cy="1316653"/>
          </a:xfrm>
          <a:custGeom>
            <a:avLst/>
            <a:gdLst/>
            <a:ahLst/>
            <a:cxnLst/>
            <a:rect r="r" b="b" t="t" l="l"/>
            <a:pathLst>
              <a:path h="1316653" w="1316653">
                <a:moveTo>
                  <a:pt x="0" y="0"/>
                </a:moveTo>
                <a:lnTo>
                  <a:pt x="1316653" y="0"/>
                </a:lnTo>
                <a:lnTo>
                  <a:pt x="1316653" y="1316653"/>
                </a:lnTo>
                <a:lnTo>
                  <a:pt x="0" y="13166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675412" y="8439475"/>
            <a:ext cx="1350823" cy="1350823"/>
          </a:xfrm>
          <a:custGeom>
            <a:avLst/>
            <a:gdLst/>
            <a:ahLst/>
            <a:cxnLst/>
            <a:rect r="r" b="b" t="t" l="l"/>
            <a:pathLst>
              <a:path h="1350823" w="1350823">
                <a:moveTo>
                  <a:pt x="0" y="0"/>
                </a:moveTo>
                <a:lnTo>
                  <a:pt x="1350824" y="0"/>
                </a:lnTo>
                <a:lnTo>
                  <a:pt x="1350824" y="1350823"/>
                </a:lnTo>
                <a:lnTo>
                  <a:pt x="0" y="13508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75412" y="2495103"/>
            <a:ext cx="16289231" cy="101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3"/>
              </a:lnSpc>
            </a:pPr>
            <a:r>
              <a:rPr lang="en-US" sz="7847" b="true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API and Integration Testing Focus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5412" y="4423793"/>
            <a:ext cx="2445477" cy="44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9"/>
              </a:lnSpc>
            </a:pPr>
            <a:r>
              <a:rPr lang="en-US" sz="2700">
                <a:solidFill>
                  <a:srgbClr val="FFFFFF"/>
                </a:solidFill>
                <a:latin typeface="Anantason Light"/>
                <a:ea typeface="Anantason Light"/>
                <a:cs typeface="Anantason Light"/>
                <a:sym typeface="Anantason Light"/>
              </a:rPr>
              <a:t>Presented by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8116" y="8641685"/>
            <a:ext cx="7440677" cy="270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8"/>
              </a:lnSpc>
            </a:pPr>
            <a:r>
              <a:rPr lang="en-US" sz="23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88734365 Software Testing and Evaluation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63578" y="5105400"/>
            <a:ext cx="9851425" cy="169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5"/>
              </a:lnSpc>
            </a:pPr>
            <a:r>
              <a:rPr lang="en-US" sz="2500">
                <a:solidFill>
                  <a:srgbClr val="FFFFFF"/>
                </a:solidFill>
                <a:latin typeface="Anantason Light"/>
                <a:ea typeface="Anantason Light"/>
                <a:cs typeface="Anantason Light"/>
                <a:sym typeface="Anantason Light"/>
              </a:rPr>
              <a:t>66160011    </a:t>
            </a:r>
            <a:r>
              <a:rPr lang="en-US" sz="2500">
                <a:solidFill>
                  <a:srgbClr val="FFFFFF"/>
                </a:solidFill>
                <a:latin typeface="Anantason Light"/>
                <a:ea typeface="Anantason Light"/>
                <a:cs typeface="Anantason Light"/>
                <a:sym typeface="Anantason Light"/>
              </a:rPr>
              <a:t>นางสาวภคพร</a:t>
            </a:r>
            <a:r>
              <a:rPr lang="en-US" sz="2500">
                <a:solidFill>
                  <a:srgbClr val="FFFFFF"/>
                </a:solidFill>
                <a:latin typeface="Anantason Light"/>
                <a:ea typeface="Anantason Light"/>
                <a:cs typeface="Anantason Light"/>
                <a:sym typeface="Anantason Light"/>
              </a:rPr>
              <a:t> ชัยชาญ    Test Lead and Planning</a:t>
            </a:r>
          </a:p>
          <a:p>
            <a:pPr algn="just">
              <a:lnSpc>
                <a:spcPts val="3425"/>
              </a:lnSpc>
            </a:pPr>
            <a:r>
              <a:rPr lang="en-US" sz="2500">
                <a:solidFill>
                  <a:srgbClr val="FFFFFF"/>
                </a:solidFill>
                <a:latin typeface="Anantason Light"/>
                <a:ea typeface="Anantason Light"/>
                <a:cs typeface="Anantason Light"/>
                <a:sym typeface="Anantason Light"/>
              </a:rPr>
              <a:t>66160018   นางสาวกฤติยา จิตรากูล   Black Box Tester</a:t>
            </a:r>
          </a:p>
          <a:p>
            <a:pPr algn="just">
              <a:lnSpc>
                <a:spcPts val="3425"/>
              </a:lnSpc>
            </a:pPr>
            <a:r>
              <a:rPr lang="en-US" sz="2500">
                <a:solidFill>
                  <a:srgbClr val="FFFFFF"/>
                </a:solidFill>
                <a:latin typeface="Anantason Light"/>
                <a:ea typeface="Anantason Light"/>
                <a:cs typeface="Anantason Light"/>
                <a:sym typeface="Anantason Light"/>
              </a:rPr>
              <a:t>66160127   นายติณณภพ สายแวว    White Box and Automation Tester  </a:t>
            </a:r>
          </a:p>
          <a:p>
            <a:pPr algn="just">
              <a:lnSpc>
                <a:spcPts val="3425"/>
              </a:lnSpc>
            </a:pPr>
            <a:r>
              <a:rPr lang="en-US" sz="2500">
                <a:solidFill>
                  <a:srgbClr val="FFFFFF"/>
                </a:solidFill>
                <a:latin typeface="Anantason Light"/>
                <a:ea typeface="Anantason Light"/>
                <a:cs typeface="Anantason Light"/>
                <a:sym typeface="Anantason Light"/>
              </a:rPr>
              <a:t>66160160   นายอริย์ธัช ฉัตรพิมาย    Security and QA Analyst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5412" y="3857218"/>
            <a:ext cx="11927548" cy="80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0"/>
              </a:lnSpc>
            </a:pPr>
            <a:r>
              <a:rPr lang="en-US" sz="3511" b="true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Library Management System - Backend API Testing</a:t>
            </a:r>
          </a:p>
          <a:p>
            <a:pPr algn="l">
              <a:lnSpc>
                <a:spcPts val="3020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7259300" y="1638716"/>
            <a:ext cx="1350823" cy="1350823"/>
          </a:xfrm>
          <a:custGeom>
            <a:avLst/>
            <a:gdLst/>
            <a:ahLst/>
            <a:cxnLst/>
            <a:rect r="r" b="b" t="t" l="l"/>
            <a:pathLst>
              <a:path h="1350823" w="1350823">
                <a:moveTo>
                  <a:pt x="0" y="0"/>
                </a:moveTo>
                <a:lnTo>
                  <a:pt x="1350823" y="0"/>
                </a:lnTo>
                <a:lnTo>
                  <a:pt x="1350823" y="1350824"/>
                </a:lnTo>
                <a:lnTo>
                  <a:pt x="0" y="1350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7200" y="-1634502"/>
            <a:ext cx="2726942" cy="3157131"/>
            <a:chOff x="0" y="0"/>
            <a:chExt cx="211633" cy="2450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633" cy="245019"/>
            </a:xfrm>
            <a:custGeom>
              <a:avLst/>
              <a:gdLst/>
              <a:ahLst/>
              <a:cxnLst/>
              <a:rect r="r" b="b" t="t" l="l"/>
              <a:pathLst>
                <a:path h="245019" w="211633">
                  <a:moveTo>
                    <a:pt x="0" y="0"/>
                  </a:moveTo>
                  <a:lnTo>
                    <a:pt x="211633" y="0"/>
                  </a:lnTo>
                  <a:lnTo>
                    <a:pt x="211633" y="245019"/>
                  </a:lnTo>
                  <a:lnTo>
                    <a:pt x="0" y="245019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1633" cy="283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-1344230" y="-2153063"/>
            <a:ext cx="3767262" cy="3954187"/>
          </a:xfrm>
          <a:custGeom>
            <a:avLst/>
            <a:gdLst/>
            <a:ahLst/>
            <a:cxnLst/>
            <a:rect r="r" b="b" t="t" l="l"/>
            <a:pathLst>
              <a:path h="3954187" w="3767262">
                <a:moveTo>
                  <a:pt x="3767261" y="3954187"/>
                </a:moveTo>
                <a:lnTo>
                  <a:pt x="0" y="3954187"/>
                </a:lnTo>
                <a:lnTo>
                  <a:pt x="0" y="0"/>
                </a:lnTo>
                <a:lnTo>
                  <a:pt x="3767261" y="0"/>
                </a:lnTo>
                <a:lnTo>
                  <a:pt x="3767261" y="395418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585678" y="2427552"/>
            <a:ext cx="5652237" cy="6768261"/>
            <a:chOff x="0" y="0"/>
            <a:chExt cx="733230" cy="8780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3230" cy="878005"/>
            </a:xfrm>
            <a:custGeom>
              <a:avLst/>
              <a:gdLst/>
              <a:ahLst/>
              <a:cxnLst/>
              <a:rect r="r" b="b" t="t" l="l"/>
              <a:pathLst>
                <a:path h="878005" w="733230">
                  <a:moveTo>
                    <a:pt x="93140" y="0"/>
                  </a:moveTo>
                  <a:lnTo>
                    <a:pt x="640090" y="0"/>
                  </a:lnTo>
                  <a:cubicBezTo>
                    <a:pt x="664792" y="0"/>
                    <a:pt x="688483" y="9813"/>
                    <a:pt x="705950" y="27280"/>
                  </a:cubicBezTo>
                  <a:cubicBezTo>
                    <a:pt x="723417" y="44747"/>
                    <a:pt x="733230" y="68438"/>
                    <a:pt x="733230" y="93140"/>
                  </a:cubicBezTo>
                  <a:lnTo>
                    <a:pt x="733230" y="784865"/>
                  </a:lnTo>
                  <a:cubicBezTo>
                    <a:pt x="733230" y="809567"/>
                    <a:pt x="723417" y="833257"/>
                    <a:pt x="705950" y="850725"/>
                  </a:cubicBezTo>
                  <a:cubicBezTo>
                    <a:pt x="688483" y="868192"/>
                    <a:pt x="664792" y="878005"/>
                    <a:pt x="640090" y="878005"/>
                  </a:cubicBezTo>
                  <a:lnTo>
                    <a:pt x="93140" y="878005"/>
                  </a:lnTo>
                  <a:cubicBezTo>
                    <a:pt x="68438" y="878005"/>
                    <a:pt x="44747" y="868192"/>
                    <a:pt x="27280" y="850725"/>
                  </a:cubicBezTo>
                  <a:cubicBezTo>
                    <a:pt x="9813" y="833257"/>
                    <a:pt x="0" y="809567"/>
                    <a:pt x="0" y="784865"/>
                  </a:cubicBezTo>
                  <a:lnTo>
                    <a:pt x="0" y="93140"/>
                  </a:lnTo>
                  <a:cubicBezTo>
                    <a:pt x="0" y="68438"/>
                    <a:pt x="9813" y="44747"/>
                    <a:pt x="27280" y="27280"/>
                  </a:cubicBezTo>
                  <a:cubicBezTo>
                    <a:pt x="44747" y="9813"/>
                    <a:pt x="68438" y="0"/>
                    <a:pt x="93140" y="0"/>
                  </a:cubicBezTo>
                  <a:close/>
                </a:path>
              </a:pathLst>
            </a:custGeom>
            <a:blipFill>
              <a:blip r:embed="rId4"/>
              <a:stretch>
                <a:fillRect l="-25846" t="-1801" r="-15722" b="-2832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098111" y="1885224"/>
            <a:ext cx="1260770" cy="1260770"/>
          </a:xfrm>
          <a:custGeom>
            <a:avLst/>
            <a:gdLst/>
            <a:ahLst/>
            <a:cxnLst/>
            <a:rect r="r" b="b" t="t" l="l"/>
            <a:pathLst>
              <a:path h="1260770" w="1260770">
                <a:moveTo>
                  <a:pt x="0" y="0"/>
                </a:moveTo>
                <a:lnTo>
                  <a:pt x="1260770" y="0"/>
                </a:lnTo>
                <a:lnTo>
                  <a:pt x="1260770" y="1260770"/>
                </a:lnTo>
                <a:lnTo>
                  <a:pt x="0" y="12607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179155" y="1981271"/>
            <a:ext cx="1023384" cy="1023384"/>
          </a:xfrm>
          <a:custGeom>
            <a:avLst/>
            <a:gdLst/>
            <a:ahLst/>
            <a:cxnLst/>
            <a:rect r="r" b="b" t="t" l="l"/>
            <a:pathLst>
              <a:path h="1023384" w="1023384">
                <a:moveTo>
                  <a:pt x="0" y="0"/>
                </a:moveTo>
                <a:lnTo>
                  <a:pt x="1023384" y="0"/>
                </a:lnTo>
                <a:lnTo>
                  <a:pt x="1023384" y="1023385"/>
                </a:lnTo>
                <a:lnTo>
                  <a:pt x="0" y="10233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6738598" y="7989130"/>
            <a:ext cx="10141837" cy="5384393"/>
          </a:xfrm>
          <a:custGeom>
            <a:avLst/>
            <a:gdLst/>
            <a:ahLst/>
            <a:cxnLst/>
            <a:rect r="r" b="b" t="t" l="l"/>
            <a:pathLst>
              <a:path h="5384393" w="10141837">
                <a:moveTo>
                  <a:pt x="10141836" y="0"/>
                </a:moveTo>
                <a:lnTo>
                  <a:pt x="0" y="0"/>
                </a:lnTo>
                <a:lnTo>
                  <a:pt x="0" y="5384393"/>
                </a:lnTo>
                <a:lnTo>
                  <a:pt x="10141836" y="5384393"/>
                </a:lnTo>
                <a:lnTo>
                  <a:pt x="10141836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049940" y="-1634502"/>
            <a:ext cx="9920346" cy="3435626"/>
            <a:chOff x="0" y="0"/>
            <a:chExt cx="769901" cy="2666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9901" cy="266633"/>
            </a:xfrm>
            <a:custGeom>
              <a:avLst/>
              <a:gdLst/>
              <a:ahLst/>
              <a:cxnLst/>
              <a:rect r="r" b="b" t="t" l="l"/>
              <a:pathLst>
                <a:path h="266633" w="769901">
                  <a:moveTo>
                    <a:pt x="0" y="0"/>
                  </a:moveTo>
                  <a:lnTo>
                    <a:pt x="769901" y="0"/>
                  </a:lnTo>
                  <a:lnTo>
                    <a:pt x="769901" y="266633"/>
                  </a:lnTo>
                  <a:lnTo>
                    <a:pt x="0" y="266633"/>
                  </a:lnTo>
                  <a:close/>
                </a:path>
              </a:pathLst>
            </a:custGeom>
            <a:solidFill>
              <a:srgbClr val="004AAD">
                <a:alpha val="8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69901" cy="304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9400" y="2492964"/>
            <a:ext cx="5895342" cy="2720122"/>
            <a:chOff x="0" y="0"/>
            <a:chExt cx="2275336" cy="10498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75336" cy="1049844"/>
            </a:xfrm>
            <a:custGeom>
              <a:avLst/>
              <a:gdLst/>
              <a:ahLst/>
              <a:cxnLst/>
              <a:rect r="r" b="b" t="t" l="l"/>
              <a:pathLst>
                <a:path h="1049844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919835"/>
                  </a:lnTo>
                  <a:cubicBezTo>
                    <a:pt x="2275336" y="991637"/>
                    <a:pt x="2217128" y="1049844"/>
                    <a:pt x="2145326" y="1049844"/>
                  </a:cubicBezTo>
                  <a:lnTo>
                    <a:pt x="130009" y="1049844"/>
                  </a:lnTo>
                  <a:cubicBezTo>
                    <a:pt x="58207" y="1049844"/>
                    <a:pt x="0" y="991637"/>
                    <a:pt x="0" y="919835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75336" cy="1087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391981" y="2789000"/>
            <a:ext cx="646027" cy="502727"/>
          </a:xfrm>
          <a:custGeom>
            <a:avLst/>
            <a:gdLst/>
            <a:ahLst/>
            <a:cxnLst/>
            <a:rect r="r" b="b" t="t" l="l"/>
            <a:pathLst>
              <a:path h="502727" w="646027">
                <a:moveTo>
                  <a:pt x="0" y="0"/>
                </a:moveTo>
                <a:lnTo>
                  <a:pt x="646027" y="0"/>
                </a:lnTo>
                <a:lnTo>
                  <a:pt x="646027" y="502727"/>
                </a:lnTo>
                <a:lnTo>
                  <a:pt x="0" y="502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775400" y="553926"/>
            <a:ext cx="5986230" cy="67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6"/>
              </a:lnSpc>
            </a:pPr>
            <a:r>
              <a:rPr lang="en-US" sz="5600" b="true">
                <a:solidFill>
                  <a:srgbClr val="004AAD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ภาพรวมโครงงาน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61800" y="1052910"/>
            <a:ext cx="3950731" cy="69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4"/>
              </a:lnSpc>
            </a:pPr>
            <a:r>
              <a:rPr lang="en-US" sz="3499" b="true">
                <a:solidFill>
                  <a:srgbClr val="004AAD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Overview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2684032"/>
            <a:ext cx="5251298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Library Management System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31780" y="9640762"/>
            <a:ext cx="6055040" cy="35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</a:pPr>
            <a:r>
              <a:rPr lang="en-US" sz="3000">
                <a:solidFill>
                  <a:srgbClr val="22303D"/>
                </a:solidFill>
                <a:latin typeface="Anantason"/>
                <a:ea typeface="Anantason"/>
                <a:cs typeface="Anantason"/>
                <a:sym typeface="Anantason"/>
              </a:rPr>
              <a:t>หน้าที่  1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062539" y="2422112"/>
            <a:ext cx="5895342" cy="2720122"/>
            <a:chOff x="0" y="0"/>
            <a:chExt cx="2275336" cy="10498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75336" cy="1049844"/>
            </a:xfrm>
            <a:custGeom>
              <a:avLst/>
              <a:gdLst/>
              <a:ahLst/>
              <a:cxnLst/>
              <a:rect r="r" b="b" t="t" l="l"/>
              <a:pathLst>
                <a:path h="1049844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919835"/>
                  </a:lnTo>
                  <a:cubicBezTo>
                    <a:pt x="2275336" y="991637"/>
                    <a:pt x="2217128" y="1049844"/>
                    <a:pt x="2145326" y="1049844"/>
                  </a:cubicBezTo>
                  <a:lnTo>
                    <a:pt x="130009" y="1049844"/>
                  </a:lnTo>
                  <a:cubicBezTo>
                    <a:pt x="58207" y="1049844"/>
                    <a:pt x="0" y="991637"/>
                    <a:pt x="0" y="919835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75336" cy="1087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61422" y="3401170"/>
            <a:ext cx="5251298" cy="153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Web Application — Node.js BackendRESTful API + ฐานข้อมูลจัดการหนังสือ · สมาชิก · ยืม-คืน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962027" y="3402126"/>
            <a:ext cx="4175826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ทำไมถึงเลือก Option 2?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28236" y="5447193"/>
            <a:ext cx="3950731" cy="69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4"/>
              </a:lnSpc>
            </a:pPr>
            <a:r>
              <a:rPr lang="en-US" sz="3499" b="true">
                <a:solidFill>
                  <a:srgbClr val="004AAD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วัตถุประสงค์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06678" y="6550617"/>
            <a:ext cx="5895342" cy="966635"/>
            <a:chOff x="0" y="0"/>
            <a:chExt cx="2275336" cy="37307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75336" cy="373077"/>
            </a:xfrm>
            <a:custGeom>
              <a:avLst/>
              <a:gdLst/>
              <a:ahLst/>
              <a:cxnLst/>
              <a:rect r="r" b="b" t="t" l="l"/>
              <a:pathLst>
                <a:path h="373077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243068"/>
                  </a:lnTo>
                  <a:cubicBezTo>
                    <a:pt x="2275336" y="314870"/>
                    <a:pt x="2217128" y="373077"/>
                    <a:pt x="2145326" y="373077"/>
                  </a:cubicBezTo>
                  <a:lnTo>
                    <a:pt x="130009" y="373077"/>
                  </a:lnTo>
                  <a:cubicBezTo>
                    <a:pt x="58207" y="373077"/>
                    <a:pt x="0" y="314870"/>
                    <a:pt x="0" y="243068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275336" cy="411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46178" y="6564513"/>
            <a:ext cx="5895342" cy="966635"/>
            <a:chOff x="0" y="0"/>
            <a:chExt cx="2275336" cy="37307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75336" cy="373077"/>
            </a:xfrm>
            <a:custGeom>
              <a:avLst/>
              <a:gdLst/>
              <a:ahLst/>
              <a:cxnLst/>
              <a:rect r="r" b="b" t="t" l="l"/>
              <a:pathLst>
                <a:path h="373077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243068"/>
                  </a:lnTo>
                  <a:cubicBezTo>
                    <a:pt x="2275336" y="314870"/>
                    <a:pt x="2217128" y="373077"/>
                    <a:pt x="2145326" y="373077"/>
                  </a:cubicBezTo>
                  <a:lnTo>
                    <a:pt x="130009" y="373077"/>
                  </a:lnTo>
                  <a:cubicBezTo>
                    <a:pt x="58207" y="373077"/>
                    <a:pt x="0" y="314870"/>
                    <a:pt x="0" y="243068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275336" cy="411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06678" y="8312198"/>
            <a:ext cx="5895342" cy="966635"/>
            <a:chOff x="0" y="0"/>
            <a:chExt cx="2275336" cy="37307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75336" cy="373077"/>
            </a:xfrm>
            <a:custGeom>
              <a:avLst/>
              <a:gdLst/>
              <a:ahLst/>
              <a:cxnLst/>
              <a:rect r="r" b="b" t="t" l="l"/>
              <a:pathLst>
                <a:path h="373077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243068"/>
                  </a:lnTo>
                  <a:cubicBezTo>
                    <a:pt x="2275336" y="314870"/>
                    <a:pt x="2217128" y="373077"/>
                    <a:pt x="2145326" y="373077"/>
                  </a:cubicBezTo>
                  <a:lnTo>
                    <a:pt x="130009" y="373077"/>
                  </a:lnTo>
                  <a:cubicBezTo>
                    <a:pt x="58207" y="373077"/>
                    <a:pt x="0" y="314870"/>
                    <a:pt x="0" y="243068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275336" cy="411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146178" y="8312198"/>
            <a:ext cx="5895342" cy="966635"/>
            <a:chOff x="0" y="0"/>
            <a:chExt cx="2275336" cy="37307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75336" cy="373077"/>
            </a:xfrm>
            <a:custGeom>
              <a:avLst/>
              <a:gdLst/>
              <a:ahLst/>
              <a:cxnLst/>
              <a:rect r="r" b="b" t="t" l="l"/>
              <a:pathLst>
                <a:path h="373077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243068"/>
                  </a:lnTo>
                  <a:cubicBezTo>
                    <a:pt x="2275336" y="314870"/>
                    <a:pt x="2217128" y="373077"/>
                    <a:pt x="2145326" y="373077"/>
                  </a:cubicBezTo>
                  <a:lnTo>
                    <a:pt x="130009" y="373077"/>
                  </a:lnTo>
                  <a:cubicBezTo>
                    <a:pt x="58207" y="373077"/>
                    <a:pt x="0" y="314870"/>
                    <a:pt x="0" y="243068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275336" cy="411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3487071" y="6670411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093849" y="6653886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487071" y="8415467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093849" y="8415467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4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226358" y="4329952"/>
            <a:ext cx="1023384" cy="1023384"/>
          </a:xfrm>
          <a:custGeom>
            <a:avLst/>
            <a:gdLst/>
            <a:ahLst/>
            <a:cxnLst/>
            <a:rect r="r" b="b" t="t" l="l"/>
            <a:pathLst>
              <a:path h="1023384" w="1023384">
                <a:moveTo>
                  <a:pt x="0" y="0"/>
                </a:moveTo>
                <a:lnTo>
                  <a:pt x="1023384" y="0"/>
                </a:lnTo>
                <a:lnTo>
                  <a:pt x="1023384" y="1023384"/>
                </a:lnTo>
                <a:lnTo>
                  <a:pt x="0" y="1023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7200" y="-1634502"/>
            <a:ext cx="2726942" cy="3157131"/>
            <a:chOff x="0" y="0"/>
            <a:chExt cx="211633" cy="2450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633" cy="245019"/>
            </a:xfrm>
            <a:custGeom>
              <a:avLst/>
              <a:gdLst/>
              <a:ahLst/>
              <a:cxnLst/>
              <a:rect r="r" b="b" t="t" l="l"/>
              <a:pathLst>
                <a:path h="245019" w="211633">
                  <a:moveTo>
                    <a:pt x="0" y="0"/>
                  </a:moveTo>
                  <a:lnTo>
                    <a:pt x="211633" y="0"/>
                  </a:lnTo>
                  <a:lnTo>
                    <a:pt x="211633" y="245019"/>
                  </a:lnTo>
                  <a:lnTo>
                    <a:pt x="0" y="245019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1633" cy="283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-1344230" y="-2153063"/>
            <a:ext cx="3767262" cy="3954187"/>
          </a:xfrm>
          <a:custGeom>
            <a:avLst/>
            <a:gdLst/>
            <a:ahLst/>
            <a:cxnLst/>
            <a:rect r="r" b="b" t="t" l="l"/>
            <a:pathLst>
              <a:path h="3954187" w="3767262">
                <a:moveTo>
                  <a:pt x="3767261" y="3954187"/>
                </a:moveTo>
                <a:lnTo>
                  <a:pt x="0" y="3954187"/>
                </a:lnTo>
                <a:lnTo>
                  <a:pt x="0" y="0"/>
                </a:lnTo>
                <a:lnTo>
                  <a:pt x="3767261" y="0"/>
                </a:lnTo>
                <a:lnTo>
                  <a:pt x="3767261" y="395418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585678" y="2427552"/>
            <a:ext cx="5652237" cy="6768261"/>
            <a:chOff x="0" y="0"/>
            <a:chExt cx="733230" cy="8780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3230" cy="878005"/>
            </a:xfrm>
            <a:custGeom>
              <a:avLst/>
              <a:gdLst/>
              <a:ahLst/>
              <a:cxnLst/>
              <a:rect r="r" b="b" t="t" l="l"/>
              <a:pathLst>
                <a:path h="878005" w="733230">
                  <a:moveTo>
                    <a:pt x="93140" y="0"/>
                  </a:moveTo>
                  <a:lnTo>
                    <a:pt x="640090" y="0"/>
                  </a:lnTo>
                  <a:cubicBezTo>
                    <a:pt x="664792" y="0"/>
                    <a:pt x="688483" y="9813"/>
                    <a:pt x="705950" y="27280"/>
                  </a:cubicBezTo>
                  <a:cubicBezTo>
                    <a:pt x="723417" y="44747"/>
                    <a:pt x="733230" y="68438"/>
                    <a:pt x="733230" y="93140"/>
                  </a:cubicBezTo>
                  <a:lnTo>
                    <a:pt x="733230" y="784865"/>
                  </a:lnTo>
                  <a:cubicBezTo>
                    <a:pt x="733230" y="809567"/>
                    <a:pt x="723417" y="833257"/>
                    <a:pt x="705950" y="850725"/>
                  </a:cubicBezTo>
                  <a:cubicBezTo>
                    <a:pt x="688483" y="868192"/>
                    <a:pt x="664792" y="878005"/>
                    <a:pt x="640090" y="878005"/>
                  </a:cubicBezTo>
                  <a:lnTo>
                    <a:pt x="93140" y="878005"/>
                  </a:lnTo>
                  <a:cubicBezTo>
                    <a:pt x="68438" y="878005"/>
                    <a:pt x="44747" y="868192"/>
                    <a:pt x="27280" y="850725"/>
                  </a:cubicBezTo>
                  <a:cubicBezTo>
                    <a:pt x="9813" y="833257"/>
                    <a:pt x="0" y="809567"/>
                    <a:pt x="0" y="784865"/>
                  </a:cubicBezTo>
                  <a:lnTo>
                    <a:pt x="0" y="93140"/>
                  </a:lnTo>
                  <a:cubicBezTo>
                    <a:pt x="0" y="68438"/>
                    <a:pt x="9813" y="44747"/>
                    <a:pt x="27280" y="27280"/>
                  </a:cubicBezTo>
                  <a:cubicBezTo>
                    <a:pt x="44747" y="9813"/>
                    <a:pt x="68438" y="0"/>
                    <a:pt x="93140" y="0"/>
                  </a:cubicBezTo>
                  <a:close/>
                </a:path>
              </a:pathLst>
            </a:custGeom>
            <a:blipFill>
              <a:blip r:embed="rId4"/>
              <a:stretch>
                <a:fillRect l="-25846" t="-1801" r="-15722" b="-2832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098111" y="1885224"/>
            <a:ext cx="1260770" cy="1260770"/>
          </a:xfrm>
          <a:custGeom>
            <a:avLst/>
            <a:gdLst/>
            <a:ahLst/>
            <a:cxnLst/>
            <a:rect r="r" b="b" t="t" l="l"/>
            <a:pathLst>
              <a:path h="1260770" w="1260770">
                <a:moveTo>
                  <a:pt x="0" y="0"/>
                </a:moveTo>
                <a:lnTo>
                  <a:pt x="1260770" y="0"/>
                </a:lnTo>
                <a:lnTo>
                  <a:pt x="1260770" y="1260770"/>
                </a:lnTo>
                <a:lnTo>
                  <a:pt x="0" y="12607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179155" y="1981271"/>
            <a:ext cx="1023384" cy="1023384"/>
          </a:xfrm>
          <a:custGeom>
            <a:avLst/>
            <a:gdLst/>
            <a:ahLst/>
            <a:cxnLst/>
            <a:rect r="r" b="b" t="t" l="l"/>
            <a:pathLst>
              <a:path h="1023384" w="1023384">
                <a:moveTo>
                  <a:pt x="0" y="0"/>
                </a:moveTo>
                <a:lnTo>
                  <a:pt x="1023384" y="0"/>
                </a:lnTo>
                <a:lnTo>
                  <a:pt x="1023384" y="1023385"/>
                </a:lnTo>
                <a:lnTo>
                  <a:pt x="0" y="10233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6738598" y="7989130"/>
            <a:ext cx="10141837" cy="5384393"/>
          </a:xfrm>
          <a:custGeom>
            <a:avLst/>
            <a:gdLst/>
            <a:ahLst/>
            <a:cxnLst/>
            <a:rect r="r" b="b" t="t" l="l"/>
            <a:pathLst>
              <a:path h="5384393" w="10141837">
                <a:moveTo>
                  <a:pt x="10141836" y="0"/>
                </a:moveTo>
                <a:lnTo>
                  <a:pt x="0" y="0"/>
                </a:lnTo>
                <a:lnTo>
                  <a:pt x="0" y="5384393"/>
                </a:lnTo>
                <a:lnTo>
                  <a:pt x="10141836" y="5384393"/>
                </a:lnTo>
                <a:lnTo>
                  <a:pt x="10141836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049940" y="-1634502"/>
            <a:ext cx="9920346" cy="3435626"/>
            <a:chOff x="0" y="0"/>
            <a:chExt cx="769901" cy="2666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9901" cy="266633"/>
            </a:xfrm>
            <a:custGeom>
              <a:avLst/>
              <a:gdLst/>
              <a:ahLst/>
              <a:cxnLst/>
              <a:rect r="r" b="b" t="t" l="l"/>
              <a:pathLst>
                <a:path h="266633" w="769901">
                  <a:moveTo>
                    <a:pt x="0" y="0"/>
                  </a:moveTo>
                  <a:lnTo>
                    <a:pt x="769901" y="0"/>
                  </a:lnTo>
                  <a:lnTo>
                    <a:pt x="769901" y="266633"/>
                  </a:lnTo>
                  <a:lnTo>
                    <a:pt x="0" y="266633"/>
                  </a:lnTo>
                  <a:close/>
                </a:path>
              </a:pathLst>
            </a:custGeom>
            <a:solidFill>
              <a:srgbClr val="004AAD">
                <a:alpha val="8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69901" cy="304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9400" y="2492964"/>
            <a:ext cx="5895342" cy="2720122"/>
            <a:chOff x="0" y="0"/>
            <a:chExt cx="2275336" cy="10498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75336" cy="1049844"/>
            </a:xfrm>
            <a:custGeom>
              <a:avLst/>
              <a:gdLst/>
              <a:ahLst/>
              <a:cxnLst/>
              <a:rect r="r" b="b" t="t" l="l"/>
              <a:pathLst>
                <a:path h="1049844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919835"/>
                  </a:lnTo>
                  <a:cubicBezTo>
                    <a:pt x="2275336" y="991637"/>
                    <a:pt x="2217128" y="1049844"/>
                    <a:pt x="2145326" y="1049844"/>
                  </a:cubicBezTo>
                  <a:lnTo>
                    <a:pt x="130009" y="1049844"/>
                  </a:lnTo>
                  <a:cubicBezTo>
                    <a:pt x="58207" y="1049844"/>
                    <a:pt x="0" y="991637"/>
                    <a:pt x="0" y="919835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75336" cy="1087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391981" y="2789000"/>
            <a:ext cx="646027" cy="502727"/>
          </a:xfrm>
          <a:custGeom>
            <a:avLst/>
            <a:gdLst/>
            <a:ahLst/>
            <a:cxnLst/>
            <a:rect r="r" b="b" t="t" l="l"/>
            <a:pathLst>
              <a:path h="502727" w="646027">
                <a:moveTo>
                  <a:pt x="0" y="0"/>
                </a:moveTo>
                <a:lnTo>
                  <a:pt x="646027" y="0"/>
                </a:lnTo>
                <a:lnTo>
                  <a:pt x="646027" y="502727"/>
                </a:lnTo>
                <a:lnTo>
                  <a:pt x="0" y="502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775400" y="553926"/>
            <a:ext cx="5986230" cy="67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6"/>
              </a:lnSpc>
            </a:pPr>
            <a:r>
              <a:rPr lang="en-US" sz="5600" b="true">
                <a:solidFill>
                  <a:srgbClr val="004AAD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ภาพรวมโครงงาน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61800" y="1052910"/>
            <a:ext cx="3950731" cy="69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4"/>
              </a:lnSpc>
            </a:pPr>
            <a:r>
              <a:rPr lang="en-US" sz="3499" b="true">
                <a:solidFill>
                  <a:srgbClr val="004AAD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Overview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2684032"/>
            <a:ext cx="5251298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Library Management System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31780" y="9640762"/>
            <a:ext cx="6055040" cy="35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</a:pPr>
            <a:r>
              <a:rPr lang="en-US" sz="3000">
                <a:solidFill>
                  <a:srgbClr val="22303D"/>
                </a:solidFill>
                <a:latin typeface="Anantason"/>
                <a:ea typeface="Anantason"/>
                <a:cs typeface="Anantason"/>
                <a:sym typeface="Anantason"/>
              </a:rPr>
              <a:t>หน้าที่  1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062539" y="2422112"/>
            <a:ext cx="5895342" cy="2720122"/>
            <a:chOff x="0" y="0"/>
            <a:chExt cx="2275336" cy="10498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75336" cy="1049844"/>
            </a:xfrm>
            <a:custGeom>
              <a:avLst/>
              <a:gdLst/>
              <a:ahLst/>
              <a:cxnLst/>
              <a:rect r="r" b="b" t="t" l="l"/>
              <a:pathLst>
                <a:path h="1049844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919835"/>
                  </a:lnTo>
                  <a:cubicBezTo>
                    <a:pt x="2275336" y="991637"/>
                    <a:pt x="2217128" y="1049844"/>
                    <a:pt x="2145326" y="1049844"/>
                  </a:cubicBezTo>
                  <a:lnTo>
                    <a:pt x="130009" y="1049844"/>
                  </a:lnTo>
                  <a:cubicBezTo>
                    <a:pt x="58207" y="1049844"/>
                    <a:pt x="0" y="991637"/>
                    <a:pt x="0" y="919835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75336" cy="1087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61422" y="3401170"/>
            <a:ext cx="5251298" cy="153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Web Application — Node.js BackendRESTful API + ฐานข้อมูลจัดการหนังสือ · สมาชิก · ยืม-คืน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05936" y="2684032"/>
            <a:ext cx="4175826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ทำไมถึงเลือก Option 2?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28236" y="5447193"/>
            <a:ext cx="3950731" cy="69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4"/>
              </a:lnSpc>
            </a:pPr>
            <a:r>
              <a:rPr lang="en-US" sz="3499" b="true">
                <a:solidFill>
                  <a:srgbClr val="004AAD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วัตถุประสงค์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06678" y="6550617"/>
            <a:ext cx="5895342" cy="966635"/>
            <a:chOff x="0" y="0"/>
            <a:chExt cx="2275336" cy="37307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75336" cy="373077"/>
            </a:xfrm>
            <a:custGeom>
              <a:avLst/>
              <a:gdLst/>
              <a:ahLst/>
              <a:cxnLst/>
              <a:rect r="r" b="b" t="t" l="l"/>
              <a:pathLst>
                <a:path h="373077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243068"/>
                  </a:lnTo>
                  <a:cubicBezTo>
                    <a:pt x="2275336" y="314870"/>
                    <a:pt x="2217128" y="373077"/>
                    <a:pt x="2145326" y="373077"/>
                  </a:cubicBezTo>
                  <a:lnTo>
                    <a:pt x="130009" y="373077"/>
                  </a:lnTo>
                  <a:cubicBezTo>
                    <a:pt x="58207" y="373077"/>
                    <a:pt x="0" y="314870"/>
                    <a:pt x="0" y="243068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275336" cy="411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46178" y="6564513"/>
            <a:ext cx="5895342" cy="966635"/>
            <a:chOff x="0" y="0"/>
            <a:chExt cx="2275336" cy="37307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75336" cy="373077"/>
            </a:xfrm>
            <a:custGeom>
              <a:avLst/>
              <a:gdLst/>
              <a:ahLst/>
              <a:cxnLst/>
              <a:rect r="r" b="b" t="t" l="l"/>
              <a:pathLst>
                <a:path h="373077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243068"/>
                  </a:lnTo>
                  <a:cubicBezTo>
                    <a:pt x="2275336" y="314870"/>
                    <a:pt x="2217128" y="373077"/>
                    <a:pt x="2145326" y="373077"/>
                  </a:cubicBezTo>
                  <a:lnTo>
                    <a:pt x="130009" y="373077"/>
                  </a:lnTo>
                  <a:cubicBezTo>
                    <a:pt x="58207" y="373077"/>
                    <a:pt x="0" y="314870"/>
                    <a:pt x="0" y="243068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275336" cy="411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06678" y="8312198"/>
            <a:ext cx="5895342" cy="966635"/>
            <a:chOff x="0" y="0"/>
            <a:chExt cx="2275336" cy="37307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75336" cy="373077"/>
            </a:xfrm>
            <a:custGeom>
              <a:avLst/>
              <a:gdLst/>
              <a:ahLst/>
              <a:cxnLst/>
              <a:rect r="r" b="b" t="t" l="l"/>
              <a:pathLst>
                <a:path h="373077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243068"/>
                  </a:lnTo>
                  <a:cubicBezTo>
                    <a:pt x="2275336" y="314870"/>
                    <a:pt x="2217128" y="373077"/>
                    <a:pt x="2145326" y="373077"/>
                  </a:cubicBezTo>
                  <a:lnTo>
                    <a:pt x="130009" y="373077"/>
                  </a:lnTo>
                  <a:cubicBezTo>
                    <a:pt x="58207" y="373077"/>
                    <a:pt x="0" y="314870"/>
                    <a:pt x="0" y="243068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275336" cy="411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146178" y="8312198"/>
            <a:ext cx="5895342" cy="966635"/>
            <a:chOff x="0" y="0"/>
            <a:chExt cx="2275336" cy="37307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75336" cy="373077"/>
            </a:xfrm>
            <a:custGeom>
              <a:avLst/>
              <a:gdLst/>
              <a:ahLst/>
              <a:cxnLst/>
              <a:rect r="r" b="b" t="t" l="l"/>
              <a:pathLst>
                <a:path h="373077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243068"/>
                  </a:lnTo>
                  <a:cubicBezTo>
                    <a:pt x="2275336" y="314870"/>
                    <a:pt x="2217128" y="373077"/>
                    <a:pt x="2145326" y="373077"/>
                  </a:cubicBezTo>
                  <a:lnTo>
                    <a:pt x="130009" y="373077"/>
                  </a:lnTo>
                  <a:cubicBezTo>
                    <a:pt x="58207" y="373077"/>
                    <a:pt x="0" y="314870"/>
                    <a:pt x="0" y="243068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275336" cy="411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3487071" y="6670411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093849" y="6653886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487071" y="8415467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093849" y="8415467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4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226358" y="4329952"/>
            <a:ext cx="1023384" cy="1023384"/>
          </a:xfrm>
          <a:custGeom>
            <a:avLst/>
            <a:gdLst/>
            <a:ahLst/>
            <a:cxnLst/>
            <a:rect r="r" b="b" t="t" l="l"/>
            <a:pathLst>
              <a:path h="1023384" w="1023384">
                <a:moveTo>
                  <a:pt x="0" y="0"/>
                </a:moveTo>
                <a:lnTo>
                  <a:pt x="1023384" y="0"/>
                </a:lnTo>
                <a:lnTo>
                  <a:pt x="1023384" y="1023384"/>
                </a:lnTo>
                <a:lnTo>
                  <a:pt x="0" y="1023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7468200" y="3401170"/>
            <a:ext cx="5251298" cy="153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API คือหัวใจของระบบตรวจพบ bug ได้เร็วก่อนกระทบ UIตรงกับความต้องการตลาดงานจริง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7200" y="-1634502"/>
            <a:ext cx="2726942" cy="3157131"/>
            <a:chOff x="0" y="0"/>
            <a:chExt cx="211633" cy="2450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633" cy="245019"/>
            </a:xfrm>
            <a:custGeom>
              <a:avLst/>
              <a:gdLst/>
              <a:ahLst/>
              <a:cxnLst/>
              <a:rect r="r" b="b" t="t" l="l"/>
              <a:pathLst>
                <a:path h="245019" w="211633">
                  <a:moveTo>
                    <a:pt x="0" y="0"/>
                  </a:moveTo>
                  <a:lnTo>
                    <a:pt x="211633" y="0"/>
                  </a:lnTo>
                  <a:lnTo>
                    <a:pt x="211633" y="245019"/>
                  </a:lnTo>
                  <a:lnTo>
                    <a:pt x="0" y="245019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1633" cy="283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-1344230" y="-2153063"/>
            <a:ext cx="3767262" cy="3954187"/>
          </a:xfrm>
          <a:custGeom>
            <a:avLst/>
            <a:gdLst/>
            <a:ahLst/>
            <a:cxnLst/>
            <a:rect r="r" b="b" t="t" l="l"/>
            <a:pathLst>
              <a:path h="3954187" w="3767262">
                <a:moveTo>
                  <a:pt x="3767261" y="3954187"/>
                </a:moveTo>
                <a:lnTo>
                  <a:pt x="0" y="3954187"/>
                </a:lnTo>
                <a:lnTo>
                  <a:pt x="0" y="0"/>
                </a:lnTo>
                <a:lnTo>
                  <a:pt x="3767261" y="0"/>
                </a:lnTo>
                <a:lnTo>
                  <a:pt x="3767261" y="395418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585678" y="2427552"/>
            <a:ext cx="5652237" cy="6768261"/>
            <a:chOff x="0" y="0"/>
            <a:chExt cx="733230" cy="8780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3230" cy="878005"/>
            </a:xfrm>
            <a:custGeom>
              <a:avLst/>
              <a:gdLst/>
              <a:ahLst/>
              <a:cxnLst/>
              <a:rect r="r" b="b" t="t" l="l"/>
              <a:pathLst>
                <a:path h="878005" w="733230">
                  <a:moveTo>
                    <a:pt x="93140" y="0"/>
                  </a:moveTo>
                  <a:lnTo>
                    <a:pt x="640090" y="0"/>
                  </a:lnTo>
                  <a:cubicBezTo>
                    <a:pt x="664792" y="0"/>
                    <a:pt x="688483" y="9813"/>
                    <a:pt x="705950" y="27280"/>
                  </a:cubicBezTo>
                  <a:cubicBezTo>
                    <a:pt x="723417" y="44747"/>
                    <a:pt x="733230" y="68438"/>
                    <a:pt x="733230" y="93140"/>
                  </a:cubicBezTo>
                  <a:lnTo>
                    <a:pt x="733230" y="784865"/>
                  </a:lnTo>
                  <a:cubicBezTo>
                    <a:pt x="733230" y="809567"/>
                    <a:pt x="723417" y="833257"/>
                    <a:pt x="705950" y="850725"/>
                  </a:cubicBezTo>
                  <a:cubicBezTo>
                    <a:pt x="688483" y="868192"/>
                    <a:pt x="664792" y="878005"/>
                    <a:pt x="640090" y="878005"/>
                  </a:cubicBezTo>
                  <a:lnTo>
                    <a:pt x="93140" y="878005"/>
                  </a:lnTo>
                  <a:cubicBezTo>
                    <a:pt x="68438" y="878005"/>
                    <a:pt x="44747" y="868192"/>
                    <a:pt x="27280" y="850725"/>
                  </a:cubicBezTo>
                  <a:cubicBezTo>
                    <a:pt x="9813" y="833257"/>
                    <a:pt x="0" y="809567"/>
                    <a:pt x="0" y="784865"/>
                  </a:cubicBezTo>
                  <a:lnTo>
                    <a:pt x="0" y="93140"/>
                  </a:lnTo>
                  <a:cubicBezTo>
                    <a:pt x="0" y="68438"/>
                    <a:pt x="9813" y="44747"/>
                    <a:pt x="27280" y="27280"/>
                  </a:cubicBezTo>
                  <a:cubicBezTo>
                    <a:pt x="44747" y="9813"/>
                    <a:pt x="68438" y="0"/>
                    <a:pt x="93140" y="0"/>
                  </a:cubicBezTo>
                  <a:close/>
                </a:path>
              </a:pathLst>
            </a:custGeom>
            <a:blipFill>
              <a:blip r:embed="rId4"/>
              <a:stretch>
                <a:fillRect l="-25846" t="-1801" r="-15722" b="-2832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098111" y="1885224"/>
            <a:ext cx="1260770" cy="1260770"/>
          </a:xfrm>
          <a:custGeom>
            <a:avLst/>
            <a:gdLst/>
            <a:ahLst/>
            <a:cxnLst/>
            <a:rect r="r" b="b" t="t" l="l"/>
            <a:pathLst>
              <a:path h="1260770" w="1260770">
                <a:moveTo>
                  <a:pt x="0" y="0"/>
                </a:moveTo>
                <a:lnTo>
                  <a:pt x="1260770" y="0"/>
                </a:lnTo>
                <a:lnTo>
                  <a:pt x="1260770" y="1260770"/>
                </a:lnTo>
                <a:lnTo>
                  <a:pt x="0" y="12607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179155" y="1981271"/>
            <a:ext cx="1023384" cy="1023384"/>
          </a:xfrm>
          <a:custGeom>
            <a:avLst/>
            <a:gdLst/>
            <a:ahLst/>
            <a:cxnLst/>
            <a:rect r="r" b="b" t="t" l="l"/>
            <a:pathLst>
              <a:path h="1023384" w="1023384">
                <a:moveTo>
                  <a:pt x="0" y="0"/>
                </a:moveTo>
                <a:lnTo>
                  <a:pt x="1023384" y="0"/>
                </a:lnTo>
                <a:lnTo>
                  <a:pt x="1023384" y="1023385"/>
                </a:lnTo>
                <a:lnTo>
                  <a:pt x="0" y="10233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6738598" y="7989130"/>
            <a:ext cx="10141837" cy="5384393"/>
          </a:xfrm>
          <a:custGeom>
            <a:avLst/>
            <a:gdLst/>
            <a:ahLst/>
            <a:cxnLst/>
            <a:rect r="r" b="b" t="t" l="l"/>
            <a:pathLst>
              <a:path h="5384393" w="10141837">
                <a:moveTo>
                  <a:pt x="10141836" y="0"/>
                </a:moveTo>
                <a:lnTo>
                  <a:pt x="0" y="0"/>
                </a:lnTo>
                <a:lnTo>
                  <a:pt x="0" y="5384393"/>
                </a:lnTo>
                <a:lnTo>
                  <a:pt x="10141836" y="5384393"/>
                </a:lnTo>
                <a:lnTo>
                  <a:pt x="10141836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049940" y="-1634502"/>
            <a:ext cx="9920346" cy="3435626"/>
            <a:chOff x="0" y="0"/>
            <a:chExt cx="769901" cy="2666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9901" cy="266633"/>
            </a:xfrm>
            <a:custGeom>
              <a:avLst/>
              <a:gdLst/>
              <a:ahLst/>
              <a:cxnLst/>
              <a:rect r="r" b="b" t="t" l="l"/>
              <a:pathLst>
                <a:path h="266633" w="769901">
                  <a:moveTo>
                    <a:pt x="0" y="0"/>
                  </a:moveTo>
                  <a:lnTo>
                    <a:pt x="769901" y="0"/>
                  </a:lnTo>
                  <a:lnTo>
                    <a:pt x="769901" y="266633"/>
                  </a:lnTo>
                  <a:lnTo>
                    <a:pt x="0" y="266633"/>
                  </a:lnTo>
                  <a:close/>
                </a:path>
              </a:pathLst>
            </a:custGeom>
            <a:solidFill>
              <a:srgbClr val="004AAD">
                <a:alpha val="8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69901" cy="304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9400" y="2492964"/>
            <a:ext cx="5895342" cy="2720122"/>
            <a:chOff x="0" y="0"/>
            <a:chExt cx="2275336" cy="10498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75336" cy="1049844"/>
            </a:xfrm>
            <a:custGeom>
              <a:avLst/>
              <a:gdLst/>
              <a:ahLst/>
              <a:cxnLst/>
              <a:rect r="r" b="b" t="t" l="l"/>
              <a:pathLst>
                <a:path h="1049844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919835"/>
                  </a:lnTo>
                  <a:cubicBezTo>
                    <a:pt x="2275336" y="991637"/>
                    <a:pt x="2217128" y="1049844"/>
                    <a:pt x="2145326" y="1049844"/>
                  </a:cubicBezTo>
                  <a:lnTo>
                    <a:pt x="130009" y="1049844"/>
                  </a:lnTo>
                  <a:cubicBezTo>
                    <a:pt x="58207" y="1049844"/>
                    <a:pt x="0" y="991637"/>
                    <a:pt x="0" y="919835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75336" cy="1087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391981" y="2789000"/>
            <a:ext cx="646027" cy="502727"/>
          </a:xfrm>
          <a:custGeom>
            <a:avLst/>
            <a:gdLst/>
            <a:ahLst/>
            <a:cxnLst/>
            <a:rect r="r" b="b" t="t" l="l"/>
            <a:pathLst>
              <a:path h="502727" w="646027">
                <a:moveTo>
                  <a:pt x="0" y="0"/>
                </a:moveTo>
                <a:lnTo>
                  <a:pt x="646027" y="0"/>
                </a:lnTo>
                <a:lnTo>
                  <a:pt x="646027" y="502727"/>
                </a:lnTo>
                <a:lnTo>
                  <a:pt x="0" y="502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775400" y="553926"/>
            <a:ext cx="5986230" cy="67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6"/>
              </a:lnSpc>
            </a:pPr>
            <a:r>
              <a:rPr lang="en-US" sz="5600" b="true">
                <a:solidFill>
                  <a:srgbClr val="004AAD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ภาพรวมโครงงาน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61800" y="1052910"/>
            <a:ext cx="3950731" cy="69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4"/>
              </a:lnSpc>
            </a:pPr>
            <a:r>
              <a:rPr lang="en-US" sz="3499" b="true">
                <a:solidFill>
                  <a:srgbClr val="004AAD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Overview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2684032"/>
            <a:ext cx="5251298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Library Management System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31780" y="9640762"/>
            <a:ext cx="6055040" cy="35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</a:pPr>
            <a:r>
              <a:rPr lang="en-US" sz="3000">
                <a:solidFill>
                  <a:srgbClr val="22303D"/>
                </a:solidFill>
                <a:latin typeface="Anantason"/>
                <a:ea typeface="Anantason"/>
                <a:cs typeface="Anantason"/>
                <a:sym typeface="Anantason"/>
              </a:rPr>
              <a:t>หน้าที่  1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062539" y="2422112"/>
            <a:ext cx="5895342" cy="2720122"/>
            <a:chOff x="0" y="0"/>
            <a:chExt cx="2275336" cy="10498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75336" cy="1049844"/>
            </a:xfrm>
            <a:custGeom>
              <a:avLst/>
              <a:gdLst/>
              <a:ahLst/>
              <a:cxnLst/>
              <a:rect r="r" b="b" t="t" l="l"/>
              <a:pathLst>
                <a:path h="1049844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919835"/>
                  </a:lnTo>
                  <a:cubicBezTo>
                    <a:pt x="2275336" y="991637"/>
                    <a:pt x="2217128" y="1049844"/>
                    <a:pt x="2145326" y="1049844"/>
                  </a:cubicBezTo>
                  <a:lnTo>
                    <a:pt x="130009" y="1049844"/>
                  </a:lnTo>
                  <a:cubicBezTo>
                    <a:pt x="58207" y="1049844"/>
                    <a:pt x="0" y="991637"/>
                    <a:pt x="0" y="919835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75336" cy="1087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61422" y="3401170"/>
            <a:ext cx="5251298" cy="153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Web Application — Node.js BackendRESTful API + ฐานข้อมูลจัดการหนังสือ · สมาชิก · ยืม-คืน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05936" y="2684032"/>
            <a:ext cx="4175826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ทำไมถึงเลือก Option 2?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28236" y="5447193"/>
            <a:ext cx="3950731" cy="69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4"/>
              </a:lnSpc>
            </a:pPr>
            <a:r>
              <a:rPr lang="en-US" sz="3499" b="true">
                <a:solidFill>
                  <a:srgbClr val="004AAD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วัตถุประสงค์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06678" y="6550617"/>
            <a:ext cx="5895342" cy="1438513"/>
            <a:chOff x="0" y="0"/>
            <a:chExt cx="2275336" cy="55520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75336" cy="555201"/>
            </a:xfrm>
            <a:custGeom>
              <a:avLst/>
              <a:gdLst/>
              <a:ahLst/>
              <a:cxnLst/>
              <a:rect r="r" b="b" t="t" l="l"/>
              <a:pathLst>
                <a:path h="555201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425192"/>
                  </a:lnTo>
                  <a:cubicBezTo>
                    <a:pt x="2275336" y="496994"/>
                    <a:pt x="2217128" y="555201"/>
                    <a:pt x="2145326" y="555201"/>
                  </a:cubicBezTo>
                  <a:lnTo>
                    <a:pt x="130009" y="555201"/>
                  </a:lnTo>
                  <a:cubicBezTo>
                    <a:pt x="58207" y="555201"/>
                    <a:pt x="0" y="496994"/>
                    <a:pt x="0" y="425192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275336" cy="59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46178" y="6564513"/>
            <a:ext cx="5895342" cy="966635"/>
            <a:chOff x="0" y="0"/>
            <a:chExt cx="2275336" cy="37307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75336" cy="373077"/>
            </a:xfrm>
            <a:custGeom>
              <a:avLst/>
              <a:gdLst/>
              <a:ahLst/>
              <a:cxnLst/>
              <a:rect r="r" b="b" t="t" l="l"/>
              <a:pathLst>
                <a:path h="373077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243068"/>
                  </a:lnTo>
                  <a:cubicBezTo>
                    <a:pt x="2275336" y="314870"/>
                    <a:pt x="2217128" y="373077"/>
                    <a:pt x="2145326" y="373077"/>
                  </a:cubicBezTo>
                  <a:lnTo>
                    <a:pt x="130009" y="373077"/>
                  </a:lnTo>
                  <a:cubicBezTo>
                    <a:pt x="58207" y="373077"/>
                    <a:pt x="0" y="314870"/>
                    <a:pt x="0" y="243068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275336" cy="411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06678" y="8312198"/>
            <a:ext cx="5895342" cy="966635"/>
            <a:chOff x="0" y="0"/>
            <a:chExt cx="2275336" cy="37307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75336" cy="373077"/>
            </a:xfrm>
            <a:custGeom>
              <a:avLst/>
              <a:gdLst/>
              <a:ahLst/>
              <a:cxnLst/>
              <a:rect r="r" b="b" t="t" l="l"/>
              <a:pathLst>
                <a:path h="373077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243068"/>
                  </a:lnTo>
                  <a:cubicBezTo>
                    <a:pt x="2275336" y="314870"/>
                    <a:pt x="2217128" y="373077"/>
                    <a:pt x="2145326" y="373077"/>
                  </a:cubicBezTo>
                  <a:lnTo>
                    <a:pt x="130009" y="373077"/>
                  </a:lnTo>
                  <a:cubicBezTo>
                    <a:pt x="58207" y="373077"/>
                    <a:pt x="0" y="314870"/>
                    <a:pt x="0" y="243068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275336" cy="411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146178" y="8312198"/>
            <a:ext cx="5895342" cy="966635"/>
            <a:chOff x="0" y="0"/>
            <a:chExt cx="2275336" cy="37307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75336" cy="373077"/>
            </a:xfrm>
            <a:custGeom>
              <a:avLst/>
              <a:gdLst/>
              <a:ahLst/>
              <a:cxnLst/>
              <a:rect r="r" b="b" t="t" l="l"/>
              <a:pathLst>
                <a:path h="373077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243068"/>
                  </a:lnTo>
                  <a:cubicBezTo>
                    <a:pt x="2275336" y="314870"/>
                    <a:pt x="2217128" y="373077"/>
                    <a:pt x="2145326" y="373077"/>
                  </a:cubicBezTo>
                  <a:lnTo>
                    <a:pt x="130009" y="373077"/>
                  </a:lnTo>
                  <a:cubicBezTo>
                    <a:pt x="58207" y="373077"/>
                    <a:pt x="0" y="314870"/>
                    <a:pt x="0" y="243068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275336" cy="411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478958" y="6515386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093849" y="6653886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487071" y="8415467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093849" y="8415467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4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226358" y="4329952"/>
            <a:ext cx="1023384" cy="1023384"/>
          </a:xfrm>
          <a:custGeom>
            <a:avLst/>
            <a:gdLst/>
            <a:ahLst/>
            <a:cxnLst/>
            <a:rect r="r" b="b" t="t" l="l"/>
            <a:pathLst>
              <a:path h="1023384" w="1023384">
                <a:moveTo>
                  <a:pt x="0" y="0"/>
                </a:moveTo>
                <a:lnTo>
                  <a:pt x="1023384" y="0"/>
                </a:lnTo>
                <a:lnTo>
                  <a:pt x="1023384" y="1023384"/>
                </a:lnTo>
                <a:lnTo>
                  <a:pt x="0" y="1023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7468200" y="3401170"/>
            <a:ext cx="5251298" cy="153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API คือหัวใจของระบบตรวจพบ bug ได้เร็วก่อนกระทบ UIตรงกับความต้องการตลาดงานจริง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708174" y="6515386"/>
            <a:ext cx="4710579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. ตรวจสอบความถูกต้อง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90638" y="7227856"/>
            <a:ext cx="5251298" cy="4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ทุก Endpoint — Request &amp; Response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7200" y="-1634502"/>
            <a:ext cx="2726942" cy="3157131"/>
            <a:chOff x="0" y="0"/>
            <a:chExt cx="211633" cy="2450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633" cy="245019"/>
            </a:xfrm>
            <a:custGeom>
              <a:avLst/>
              <a:gdLst/>
              <a:ahLst/>
              <a:cxnLst/>
              <a:rect r="r" b="b" t="t" l="l"/>
              <a:pathLst>
                <a:path h="245019" w="211633">
                  <a:moveTo>
                    <a:pt x="0" y="0"/>
                  </a:moveTo>
                  <a:lnTo>
                    <a:pt x="211633" y="0"/>
                  </a:lnTo>
                  <a:lnTo>
                    <a:pt x="211633" y="245019"/>
                  </a:lnTo>
                  <a:lnTo>
                    <a:pt x="0" y="245019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1633" cy="283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-1344230" y="-2153063"/>
            <a:ext cx="3767262" cy="3954187"/>
          </a:xfrm>
          <a:custGeom>
            <a:avLst/>
            <a:gdLst/>
            <a:ahLst/>
            <a:cxnLst/>
            <a:rect r="r" b="b" t="t" l="l"/>
            <a:pathLst>
              <a:path h="3954187" w="3767262">
                <a:moveTo>
                  <a:pt x="3767261" y="3954187"/>
                </a:moveTo>
                <a:lnTo>
                  <a:pt x="0" y="3954187"/>
                </a:lnTo>
                <a:lnTo>
                  <a:pt x="0" y="0"/>
                </a:lnTo>
                <a:lnTo>
                  <a:pt x="3767261" y="0"/>
                </a:lnTo>
                <a:lnTo>
                  <a:pt x="3767261" y="395418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585678" y="2427552"/>
            <a:ext cx="5652237" cy="6768261"/>
            <a:chOff x="0" y="0"/>
            <a:chExt cx="733230" cy="8780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3230" cy="878005"/>
            </a:xfrm>
            <a:custGeom>
              <a:avLst/>
              <a:gdLst/>
              <a:ahLst/>
              <a:cxnLst/>
              <a:rect r="r" b="b" t="t" l="l"/>
              <a:pathLst>
                <a:path h="878005" w="733230">
                  <a:moveTo>
                    <a:pt x="93140" y="0"/>
                  </a:moveTo>
                  <a:lnTo>
                    <a:pt x="640090" y="0"/>
                  </a:lnTo>
                  <a:cubicBezTo>
                    <a:pt x="664792" y="0"/>
                    <a:pt x="688483" y="9813"/>
                    <a:pt x="705950" y="27280"/>
                  </a:cubicBezTo>
                  <a:cubicBezTo>
                    <a:pt x="723417" y="44747"/>
                    <a:pt x="733230" y="68438"/>
                    <a:pt x="733230" y="93140"/>
                  </a:cubicBezTo>
                  <a:lnTo>
                    <a:pt x="733230" y="784865"/>
                  </a:lnTo>
                  <a:cubicBezTo>
                    <a:pt x="733230" y="809567"/>
                    <a:pt x="723417" y="833257"/>
                    <a:pt x="705950" y="850725"/>
                  </a:cubicBezTo>
                  <a:cubicBezTo>
                    <a:pt x="688483" y="868192"/>
                    <a:pt x="664792" y="878005"/>
                    <a:pt x="640090" y="878005"/>
                  </a:cubicBezTo>
                  <a:lnTo>
                    <a:pt x="93140" y="878005"/>
                  </a:lnTo>
                  <a:cubicBezTo>
                    <a:pt x="68438" y="878005"/>
                    <a:pt x="44747" y="868192"/>
                    <a:pt x="27280" y="850725"/>
                  </a:cubicBezTo>
                  <a:cubicBezTo>
                    <a:pt x="9813" y="833257"/>
                    <a:pt x="0" y="809567"/>
                    <a:pt x="0" y="784865"/>
                  </a:cubicBezTo>
                  <a:lnTo>
                    <a:pt x="0" y="93140"/>
                  </a:lnTo>
                  <a:cubicBezTo>
                    <a:pt x="0" y="68438"/>
                    <a:pt x="9813" y="44747"/>
                    <a:pt x="27280" y="27280"/>
                  </a:cubicBezTo>
                  <a:cubicBezTo>
                    <a:pt x="44747" y="9813"/>
                    <a:pt x="68438" y="0"/>
                    <a:pt x="93140" y="0"/>
                  </a:cubicBezTo>
                  <a:close/>
                </a:path>
              </a:pathLst>
            </a:custGeom>
            <a:blipFill>
              <a:blip r:embed="rId4"/>
              <a:stretch>
                <a:fillRect l="-25846" t="-1801" r="-15722" b="-2832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098111" y="1885224"/>
            <a:ext cx="1260770" cy="1260770"/>
          </a:xfrm>
          <a:custGeom>
            <a:avLst/>
            <a:gdLst/>
            <a:ahLst/>
            <a:cxnLst/>
            <a:rect r="r" b="b" t="t" l="l"/>
            <a:pathLst>
              <a:path h="1260770" w="1260770">
                <a:moveTo>
                  <a:pt x="0" y="0"/>
                </a:moveTo>
                <a:lnTo>
                  <a:pt x="1260770" y="0"/>
                </a:lnTo>
                <a:lnTo>
                  <a:pt x="1260770" y="1260770"/>
                </a:lnTo>
                <a:lnTo>
                  <a:pt x="0" y="12607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179155" y="1981271"/>
            <a:ext cx="1023384" cy="1023384"/>
          </a:xfrm>
          <a:custGeom>
            <a:avLst/>
            <a:gdLst/>
            <a:ahLst/>
            <a:cxnLst/>
            <a:rect r="r" b="b" t="t" l="l"/>
            <a:pathLst>
              <a:path h="1023384" w="1023384">
                <a:moveTo>
                  <a:pt x="0" y="0"/>
                </a:moveTo>
                <a:lnTo>
                  <a:pt x="1023384" y="0"/>
                </a:lnTo>
                <a:lnTo>
                  <a:pt x="1023384" y="1023385"/>
                </a:lnTo>
                <a:lnTo>
                  <a:pt x="0" y="10233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6738598" y="7989130"/>
            <a:ext cx="10141837" cy="5384393"/>
          </a:xfrm>
          <a:custGeom>
            <a:avLst/>
            <a:gdLst/>
            <a:ahLst/>
            <a:cxnLst/>
            <a:rect r="r" b="b" t="t" l="l"/>
            <a:pathLst>
              <a:path h="5384393" w="10141837">
                <a:moveTo>
                  <a:pt x="10141836" y="0"/>
                </a:moveTo>
                <a:lnTo>
                  <a:pt x="0" y="0"/>
                </a:lnTo>
                <a:lnTo>
                  <a:pt x="0" y="5384393"/>
                </a:lnTo>
                <a:lnTo>
                  <a:pt x="10141836" y="5384393"/>
                </a:lnTo>
                <a:lnTo>
                  <a:pt x="10141836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049940" y="-1634502"/>
            <a:ext cx="9920346" cy="3435626"/>
            <a:chOff x="0" y="0"/>
            <a:chExt cx="769901" cy="2666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9901" cy="266633"/>
            </a:xfrm>
            <a:custGeom>
              <a:avLst/>
              <a:gdLst/>
              <a:ahLst/>
              <a:cxnLst/>
              <a:rect r="r" b="b" t="t" l="l"/>
              <a:pathLst>
                <a:path h="266633" w="769901">
                  <a:moveTo>
                    <a:pt x="0" y="0"/>
                  </a:moveTo>
                  <a:lnTo>
                    <a:pt x="769901" y="0"/>
                  </a:lnTo>
                  <a:lnTo>
                    <a:pt x="769901" y="266633"/>
                  </a:lnTo>
                  <a:lnTo>
                    <a:pt x="0" y="266633"/>
                  </a:lnTo>
                  <a:close/>
                </a:path>
              </a:pathLst>
            </a:custGeom>
            <a:solidFill>
              <a:srgbClr val="004AAD">
                <a:alpha val="8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69901" cy="304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9400" y="2492964"/>
            <a:ext cx="5895342" cy="2720122"/>
            <a:chOff x="0" y="0"/>
            <a:chExt cx="2275336" cy="10498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75336" cy="1049844"/>
            </a:xfrm>
            <a:custGeom>
              <a:avLst/>
              <a:gdLst/>
              <a:ahLst/>
              <a:cxnLst/>
              <a:rect r="r" b="b" t="t" l="l"/>
              <a:pathLst>
                <a:path h="1049844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919835"/>
                  </a:lnTo>
                  <a:cubicBezTo>
                    <a:pt x="2275336" y="991637"/>
                    <a:pt x="2217128" y="1049844"/>
                    <a:pt x="2145326" y="1049844"/>
                  </a:cubicBezTo>
                  <a:lnTo>
                    <a:pt x="130009" y="1049844"/>
                  </a:lnTo>
                  <a:cubicBezTo>
                    <a:pt x="58207" y="1049844"/>
                    <a:pt x="0" y="991637"/>
                    <a:pt x="0" y="919835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75336" cy="1087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391981" y="2789000"/>
            <a:ext cx="646027" cy="502727"/>
          </a:xfrm>
          <a:custGeom>
            <a:avLst/>
            <a:gdLst/>
            <a:ahLst/>
            <a:cxnLst/>
            <a:rect r="r" b="b" t="t" l="l"/>
            <a:pathLst>
              <a:path h="502727" w="646027">
                <a:moveTo>
                  <a:pt x="0" y="0"/>
                </a:moveTo>
                <a:lnTo>
                  <a:pt x="646027" y="0"/>
                </a:lnTo>
                <a:lnTo>
                  <a:pt x="646027" y="502727"/>
                </a:lnTo>
                <a:lnTo>
                  <a:pt x="0" y="502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775400" y="553926"/>
            <a:ext cx="5986230" cy="67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6"/>
              </a:lnSpc>
            </a:pPr>
            <a:r>
              <a:rPr lang="en-US" sz="5600" b="true">
                <a:solidFill>
                  <a:srgbClr val="004AAD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ภาพรวมโครงงาน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61800" y="1052910"/>
            <a:ext cx="3950731" cy="69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4"/>
              </a:lnSpc>
            </a:pPr>
            <a:r>
              <a:rPr lang="en-US" sz="3499" b="true">
                <a:solidFill>
                  <a:srgbClr val="004AAD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Overview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2684032"/>
            <a:ext cx="5251298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Library Management System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31780" y="9640762"/>
            <a:ext cx="6055040" cy="35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</a:pPr>
            <a:r>
              <a:rPr lang="en-US" sz="3000">
                <a:solidFill>
                  <a:srgbClr val="22303D"/>
                </a:solidFill>
                <a:latin typeface="Anantason"/>
                <a:ea typeface="Anantason"/>
                <a:cs typeface="Anantason"/>
                <a:sym typeface="Anantason"/>
              </a:rPr>
              <a:t>หน้าที่  1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062539" y="2422112"/>
            <a:ext cx="5895342" cy="2720122"/>
            <a:chOff x="0" y="0"/>
            <a:chExt cx="2275336" cy="10498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75336" cy="1049844"/>
            </a:xfrm>
            <a:custGeom>
              <a:avLst/>
              <a:gdLst/>
              <a:ahLst/>
              <a:cxnLst/>
              <a:rect r="r" b="b" t="t" l="l"/>
              <a:pathLst>
                <a:path h="1049844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919835"/>
                  </a:lnTo>
                  <a:cubicBezTo>
                    <a:pt x="2275336" y="991637"/>
                    <a:pt x="2217128" y="1049844"/>
                    <a:pt x="2145326" y="1049844"/>
                  </a:cubicBezTo>
                  <a:lnTo>
                    <a:pt x="130009" y="1049844"/>
                  </a:lnTo>
                  <a:cubicBezTo>
                    <a:pt x="58207" y="1049844"/>
                    <a:pt x="0" y="991637"/>
                    <a:pt x="0" y="919835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75336" cy="1087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61422" y="3401170"/>
            <a:ext cx="5251298" cy="153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Web Application — Node.js BackendRESTful API + ฐานข้อมูลจัดการหนังสือ · สมาชิก · ยืม-คืน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05936" y="2684032"/>
            <a:ext cx="4175826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ทำไมถึงเลือก Option 2?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28236" y="5447193"/>
            <a:ext cx="3950731" cy="69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4"/>
              </a:lnSpc>
            </a:pPr>
            <a:r>
              <a:rPr lang="en-US" sz="3499" b="true">
                <a:solidFill>
                  <a:srgbClr val="004AAD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วัตถุประสงค์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06678" y="6550617"/>
            <a:ext cx="5895342" cy="1438513"/>
            <a:chOff x="0" y="0"/>
            <a:chExt cx="2275336" cy="55520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75336" cy="555201"/>
            </a:xfrm>
            <a:custGeom>
              <a:avLst/>
              <a:gdLst/>
              <a:ahLst/>
              <a:cxnLst/>
              <a:rect r="r" b="b" t="t" l="l"/>
              <a:pathLst>
                <a:path h="555201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425192"/>
                  </a:lnTo>
                  <a:cubicBezTo>
                    <a:pt x="2275336" y="496994"/>
                    <a:pt x="2217128" y="555201"/>
                    <a:pt x="2145326" y="555201"/>
                  </a:cubicBezTo>
                  <a:lnTo>
                    <a:pt x="130009" y="555201"/>
                  </a:lnTo>
                  <a:cubicBezTo>
                    <a:pt x="58207" y="555201"/>
                    <a:pt x="0" y="496994"/>
                    <a:pt x="0" y="425192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275336" cy="59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46178" y="6564513"/>
            <a:ext cx="5895342" cy="1424617"/>
            <a:chOff x="0" y="0"/>
            <a:chExt cx="2275336" cy="54983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75336" cy="549838"/>
            </a:xfrm>
            <a:custGeom>
              <a:avLst/>
              <a:gdLst/>
              <a:ahLst/>
              <a:cxnLst/>
              <a:rect r="r" b="b" t="t" l="l"/>
              <a:pathLst>
                <a:path h="549838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419828"/>
                  </a:lnTo>
                  <a:cubicBezTo>
                    <a:pt x="2275336" y="491631"/>
                    <a:pt x="2217128" y="549838"/>
                    <a:pt x="2145326" y="549838"/>
                  </a:cubicBezTo>
                  <a:lnTo>
                    <a:pt x="130009" y="549838"/>
                  </a:lnTo>
                  <a:cubicBezTo>
                    <a:pt x="58207" y="549838"/>
                    <a:pt x="0" y="491631"/>
                    <a:pt x="0" y="419828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275336" cy="58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06678" y="8312198"/>
            <a:ext cx="5895342" cy="966635"/>
            <a:chOff x="0" y="0"/>
            <a:chExt cx="2275336" cy="37307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75336" cy="373077"/>
            </a:xfrm>
            <a:custGeom>
              <a:avLst/>
              <a:gdLst/>
              <a:ahLst/>
              <a:cxnLst/>
              <a:rect r="r" b="b" t="t" l="l"/>
              <a:pathLst>
                <a:path h="373077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243068"/>
                  </a:lnTo>
                  <a:cubicBezTo>
                    <a:pt x="2275336" y="314870"/>
                    <a:pt x="2217128" y="373077"/>
                    <a:pt x="2145326" y="373077"/>
                  </a:cubicBezTo>
                  <a:lnTo>
                    <a:pt x="130009" y="373077"/>
                  </a:lnTo>
                  <a:cubicBezTo>
                    <a:pt x="58207" y="373077"/>
                    <a:pt x="0" y="314870"/>
                    <a:pt x="0" y="243068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275336" cy="411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146178" y="8312198"/>
            <a:ext cx="5895342" cy="966635"/>
            <a:chOff x="0" y="0"/>
            <a:chExt cx="2275336" cy="37307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75336" cy="373077"/>
            </a:xfrm>
            <a:custGeom>
              <a:avLst/>
              <a:gdLst/>
              <a:ahLst/>
              <a:cxnLst/>
              <a:rect r="r" b="b" t="t" l="l"/>
              <a:pathLst>
                <a:path h="373077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243068"/>
                  </a:lnTo>
                  <a:cubicBezTo>
                    <a:pt x="2275336" y="314870"/>
                    <a:pt x="2217128" y="373077"/>
                    <a:pt x="2145326" y="373077"/>
                  </a:cubicBezTo>
                  <a:lnTo>
                    <a:pt x="130009" y="373077"/>
                  </a:lnTo>
                  <a:cubicBezTo>
                    <a:pt x="58207" y="373077"/>
                    <a:pt x="0" y="314870"/>
                    <a:pt x="0" y="243068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275336" cy="411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478958" y="6515386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776720" y="6515386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487071" y="8415467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093849" y="8415467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4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226358" y="4329952"/>
            <a:ext cx="1023384" cy="1023384"/>
          </a:xfrm>
          <a:custGeom>
            <a:avLst/>
            <a:gdLst/>
            <a:ahLst/>
            <a:cxnLst/>
            <a:rect r="r" b="b" t="t" l="l"/>
            <a:pathLst>
              <a:path h="1023384" w="1023384">
                <a:moveTo>
                  <a:pt x="0" y="0"/>
                </a:moveTo>
                <a:lnTo>
                  <a:pt x="1023384" y="0"/>
                </a:lnTo>
                <a:lnTo>
                  <a:pt x="1023384" y="1023384"/>
                </a:lnTo>
                <a:lnTo>
                  <a:pt x="0" y="1023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7468200" y="3401170"/>
            <a:ext cx="5251298" cy="153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API คือหัวใจของระบบตรวจพบ bug ได้เร็วก่อนกระทบ UIตรงกับความต้องการตลาดงานจริง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708174" y="6515386"/>
            <a:ext cx="4710579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. ตรวจสอบความถูกต้อง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90638" y="7227856"/>
            <a:ext cx="5251298" cy="4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ทุก Endpoint — Request &amp; Response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196992" y="6515386"/>
            <a:ext cx="4710579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. ทดสอบการทำงานร่วมกัน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468200" y="7227856"/>
            <a:ext cx="5251298" cy="4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API ↔ Database ↔ โมดูลต่างๆ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7200" y="-1634502"/>
            <a:ext cx="2726942" cy="3157131"/>
            <a:chOff x="0" y="0"/>
            <a:chExt cx="211633" cy="2450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633" cy="245019"/>
            </a:xfrm>
            <a:custGeom>
              <a:avLst/>
              <a:gdLst/>
              <a:ahLst/>
              <a:cxnLst/>
              <a:rect r="r" b="b" t="t" l="l"/>
              <a:pathLst>
                <a:path h="245019" w="211633">
                  <a:moveTo>
                    <a:pt x="0" y="0"/>
                  </a:moveTo>
                  <a:lnTo>
                    <a:pt x="211633" y="0"/>
                  </a:lnTo>
                  <a:lnTo>
                    <a:pt x="211633" y="245019"/>
                  </a:lnTo>
                  <a:lnTo>
                    <a:pt x="0" y="245019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1633" cy="283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-1344230" y="-2153063"/>
            <a:ext cx="3767262" cy="3954187"/>
          </a:xfrm>
          <a:custGeom>
            <a:avLst/>
            <a:gdLst/>
            <a:ahLst/>
            <a:cxnLst/>
            <a:rect r="r" b="b" t="t" l="l"/>
            <a:pathLst>
              <a:path h="3954187" w="3767262">
                <a:moveTo>
                  <a:pt x="3767261" y="3954187"/>
                </a:moveTo>
                <a:lnTo>
                  <a:pt x="0" y="3954187"/>
                </a:lnTo>
                <a:lnTo>
                  <a:pt x="0" y="0"/>
                </a:lnTo>
                <a:lnTo>
                  <a:pt x="3767261" y="0"/>
                </a:lnTo>
                <a:lnTo>
                  <a:pt x="3767261" y="395418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585678" y="2427552"/>
            <a:ext cx="5652237" cy="6768261"/>
            <a:chOff x="0" y="0"/>
            <a:chExt cx="733230" cy="8780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3230" cy="878005"/>
            </a:xfrm>
            <a:custGeom>
              <a:avLst/>
              <a:gdLst/>
              <a:ahLst/>
              <a:cxnLst/>
              <a:rect r="r" b="b" t="t" l="l"/>
              <a:pathLst>
                <a:path h="878005" w="733230">
                  <a:moveTo>
                    <a:pt x="93140" y="0"/>
                  </a:moveTo>
                  <a:lnTo>
                    <a:pt x="640090" y="0"/>
                  </a:lnTo>
                  <a:cubicBezTo>
                    <a:pt x="664792" y="0"/>
                    <a:pt x="688483" y="9813"/>
                    <a:pt x="705950" y="27280"/>
                  </a:cubicBezTo>
                  <a:cubicBezTo>
                    <a:pt x="723417" y="44747"/>
                    <a:pt x="733230" y="68438"/>
                    <a:pt x="733230" y="93140"/>
                  </a:cubicBezTo>
                  <a:lnTo>
                    <a:pt x="733230" y="784865"/>
                  </a:lnTo>
                  <a:cubicBezTo>
                    <a:pt x="733230" y="809567"/>
                    <a:pt x="723417" y="833257"/>
                    <a:pt x="705950" y="850725"/>
                  </a:cubicBezTo>
                  <a:cubicBezTo>
                    <a:pt x="688483" y="868192"/>
                    <a:pt x="664792" y="878005"/>
                    <a:pt x="640090" y="878005"/>
                  </a:cubicBezTo>
                  <a:lnTo>
                    <a:pt x="93140" y="878005"/>
                  </a:lnTo>
                  <a:cubicBezTo>
                    <a:pt x="68438" y="878005"/>
                    <a:pt x="44747" y="868192"/>
                    <a:pt x="27280" y="850725"/>
                  </a:cubicBezTo>
                  <a:cubicBezTo>
                    <a:pt x="9813" y="833257"/>
                    <a:pt x="0" y="809567"/>
                    <a:pt x="0" y="784865"/>
                  </a:cubicBezTo>
                  <a:lnTo>
                    <a:pt x="0" y="93140"/>
                  </a:lnTo>
                  <a:cubicBezTo>
                    <a:pt x="0" y="68438"/>
                    <a:pt x="9813" y="44747"/>
                    <a:pt x="27280" y="27280"/>
                  </a:cubicBezTo>
                  <a:cubicBezTo>
                    <a:pt x="44747" y="9813"/>
                    <a:pt x="68438" y="0"/>
                    <a:pt x="93140" y="0"/>
                  </a:cubicBezTo>
                  <a:close/>
                </a:path>
              </a:pathLst>
            </a:custGeom>
            <a:blipFill>
              <a:blip r:embed="rId4"/>
              <a:stretch>
                <a:fillRect l="-25846" t="-1801" r="-15722" b="-2832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098111" y="1885224"/>
            <a:ext cx="1260770" cy="1260770"/>
          </a:xfrm>
          <a:custGeom>
            <a:avLst/>
            <a:gdLst/>
            <a:ahLst/>
            <a:cxnLst/>
            <a:rect r="r" b="b" t="t" l="l"/>
            <a:pathLst>
              <a:path h="1260770" w="1260770">
                <a:moveTo>
                  <a:pt x="0" y="0"/>
                </a:moveTo>
                <a:lnTo>
                  <a:pt x="1260770" y="0"/>
                </a:lnTo>
                <a:lnTo>
                  <a:pt x="1260770" y="1260770"/>
                </a:lnTo>
                <a:lnTo>
                  <a:pt x="0" y="12607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179155" y="1981271"/>
            <a:ext cx="1023384" cy="1023384"/>
          </a:xfrm>
          <a:custGeom>
            <a:avLst/>
            <a:gdLst/>
            <a:ahLst/>
            <a:cxnLst/>
            <a:rect r="r" b="b" t="t" l="l"/>
            <a:pathLst>
              <a:path h="1023384" w="1023384">
                <a:moveTo>
                  <a:pt x="0" y="0"/>
                </a:moveTo>
                <a:lnTo>
                  <a:pt x="1023384" y="0"/>
                </a:lnTo>
                <a:lnTo>
                  <a:pt x="1023384" y="1023385"/>
                </a:lnTo>
                <a:lnTo>
                  <a:pt x="0" y="10233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6738598" y="7989130"/>
            <a:ext cx="10141837" cy="5384393"/>
          </a:xfrm>
          <a:custGeom>
            <a:avLst/>
            <a:gdLst/>
            <a:ahLst/>
            <a:cxnLst/>
            <a:rect r="r" b="b" t="t" l="l"/>
            <a:pathLst>
              <a:path h="5384393" w="10141837">
                <a:moveTo>
                  <a:pt x="10141836" y="0"/>
                </a:moveTo>
                <a:lnTo>
                  <a:pt x="0" y="0"/>
                </a:lnTo>
                <a:lnTo>
                  <a:pt x="0" y="5384393"/>
                </a:lnTo>
                <a:lnTo>
                  <a:pt x="10141836" y="5384393"/>
                </a:lnTo>
                <a:lnTo>
                  <a:pt x="10141836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049940" y="-1634502"/>
            <a:ext cx="9920346" cy="3435626"/>
            <a:chOff x="0" y="0"/>
            <a:chExt cx="769901" cy="2666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9901" cy="266633"/>
            </a:xfrm>
            <a:custGeom>
              <a:avLst/>
              <a:gdLst/>
              <a:ahLst/>
              <a:cxnLst/>
              <a:rect r="r" b="b" t="t" l="l"/>
              <a:pathLst>
                <a:path h="266633" w="769901">
                  <a:moveTo>
                    <a:pt x="0" y="0"/>
                  </a:moveTo>
                  <a:lnTo>
                    <a:pt x="769901" y="0"/>
                  </a:lnTo>
                  <a:lnTo>
                    <a:pt x="769901" y="266633"/>
                  </a:lnTo>
                  <a:lnTo>
                    <a:pt x="0" y="266633"/>
                  </a:lnTo>
                  <a:close/>
                </a:path>
              </a:pathLst>
            </a:custGeom>
            <a:solidFill>
              <a:srgbClr val="004AAD">
                <a:alpha val="8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69901" cy="304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9400" y="2492964"/>
            <a:ext cx="5895342" cy="2720122"/>
            <a:chOff x="0" y="0"/>
            <a:chExt cx="2275336" cy="10498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75336" cy="1049844"/>
            </a:xfrm>
            <a:custGeom>
              <a:avLst/>
              <a:gdLst/>
              <a:ahLst/>
              <a:cxnLst/>
              <a:rect r="r" b="b" t="t" l="l"/>
              <a:pathLst>
                <a:path h="1049844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919835"/>
                  </a:lnTo>
                  <a:cubicBezTo>
                    <a:pt x="2275336" y="991637"/>
                    <a:pt x="2217128" y="1049844"/>
                    <a:pt x="2145326" y="1049844"/>
                  </a:cubicBezTo>
                  <a:lnTo>
                    <a:pt x="130009" y="1049844"/>
                  </a:lnTo>
                  <a:cubicBezTo>
                    <a:pt x="58207" y="1049844"/>
                    <a:pt x="0" y="991637"/>
                    <a:pt x="0" y="919835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75336" cy="1087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391981" y="2789000"/>
            <a:ext cx="646027" cy="502727"/>
          </a:xfrm>
          <a:custGeom>
            <a:avLst/>
            <a:gdLst/>
            <a:ahLst/>
            <a:cxnLst/>
            <a:rect r="r" b="b" t="t" l="l"/>
            <a:pathLst>
              <a:path h="502727" w="646027">
                <a:moveTo>
                  <a:pt x="0" y="0"/>
                </a:moveTo>
                <a:lnTo>
                  <a:pt x="646027" y="0"/>
                </a:lnTo>
                <a:lnTo>
                  <a:pt x="646027" y="502727"/>
                </a:lnTo>
                <a:lnTo>
                  <a:pt x="0" y="502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775400" y="553926"/>
            <a:ext cx="5986230" cy="67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6"/>
              </a:lnSpc>
            </a:pPr>
            <a:r>
              <a:rPr lang="en-US" sz="5600" b="true">
                <a:solidFill>
                  <a:srgbClr val="004AAD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ภาพรวมโครงงาน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61800" y="1052910"/>
            <a:ext cx="3950731" cy="69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4"/>
              </a:lnSpc>
            </a:pPr>
            <a:r>
              <a:rPr lang="en-US" sz="3499" b="true">
                <a:solidFill>
                  <a:srgbClr val="004AAD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Overview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2684032"/>
            <a:ext cx="5251298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Library Management System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31780" y="9640762"/>
            <a:ext cx="6055040" cy="35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</a:pPr>
            <a:r>
              <a:rPr lang="en-US" sz="3000">
                <a:solidFill>
                  <a:srgbClr val="22303D"/>
                </a:solidFill>
                <a:latin typeface="Anantason"/>
                <a:ea typeface="Anantason"/>
                <a:cs typeface="Anantason"/>
                <a:sym typeface="Anantason"/>
              </a:rPr>
              <a:t>หน้าที่  1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062539" y="2422112"/>
            <a:ext cx="5895342" cy="2720122"/>
            <a:chOff x="0" y="0"/>
            <a:chExt cx="2275336" cy="10498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75336" cy="1049844"/>
            </a:xfrm>
            <a:custGeom>
              <a:avLst/>
              <a:gdLst/>
              <a:ahLst/>
              <a:cxnLst/>
              <a:rect r="r" b="b" t="t" l="l"/>
              <a:pathLst>
                <a:path h="1049844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919835"/>
                  </a:lnTo>
                  <a:cubicBezTo>
                    <a:pt x="2275336" y="991637"/>
                    <a:pt x="2217128" y="1049844"/>
                    <a:pt x="2145326" y="1049844"/>
                  </a:cubicBezTo>
                  <a:lnTo>
                    <a:pt x="130009" y="1049844"/>
                  </a:lnTo>
                  <a:cubicBezTo>
                    <a:pt x="58207" y="1049844"/>
                    <a:pt x="0" y="991637"/>
                    <a:pt x="0" y="919835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75336" cy="1087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61422" y="3401170"/>
            <a:ext cx="5251298" cy="153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Web Application — Node.js BackendRESTful API + ฐานข้อมูลจัดการหนังสือ · สมาชิก · ยืม-คืน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05936" y="2684032"/>
            <a:ext cx="4175826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ทำไมถึงเลือก Option 2?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28236" y="5447193"/>
            <a:ext cx="3950731" cy="69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4"/>
              </a:lnSpc>
            </a:pPr>
            <a:r>
              <a:rPr lang="en-US" sz="3499" b="true">
                <a:solidFill>
                  <a:srgbClr val="004AAD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วัตถุประสงค์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06678" y="6550617"/>
            <a:ext cx="5895342" cy="1438513"/>
            <a:chOff x="0" y="0"/>
            <a:chExt cx="2275336" cy="55520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75336" cy="555201"/>
            </a:xfrm>
            <a:custGeom>
              <a:avLst/>
              <a:gdLst/>
              <a:ahLst/>
              <a:cxnLst/>
              <a:rect r="r" b="b" t="t" l="l"/>
              <a:pathLst>
                <a:path h="555201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425192"/>
                  </a:lnTo>
                  <a:cubicBezTo>
                    <a:pt x="2275336" y="496994"/>
                    <a:pt x="2217128" y="555201"/>
                    <a:pt x="2145326" y="555201"/>
                  </a:cubicBezTo>
                  <a:lnTo>
                    <a:pt x="130009" y="555201"/>
                  </a:lnTo>
                  <a:cubicBezTo>
                    <a:pt x="58207" y="555201"/>
                    <a:pt x="0" y="496994"/>
                    <a:pt x="0" y="425192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275336" cy="59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46178" y="6564513"/>
            <a:ext cx="5895342" cy="1424617"/>
            <a:chOff x="0" y="0"/>
            <a:chExt cx="2275336" cy="54983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75336" cy="549838"/>
            </a:xfrm>
            <a:custGeom>
              <a:avLst/>
              <a:gdLst/>
              <a:ahLst/>
              <a:cxnLst/>
              <a:rect r="r" b="b" t="t" l="l"/>
              <a:pathLst>
                <a:path h="549838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419828"/>
                  </a:lnTo>
                  <a:cubicBezTo>
                    <a:pt x="2275336" y="491631"/>
                    <a:pt x="2217128" y="549838"/>
                    <a:pt x="2145326" y="549838"/>
                  </a:cubicBezTo>
                  <a:lnTo>
                    <a:pt x="130009" y="549838"/>
                  </a:lnTo>
                  <a:cubicBezTo>
                    <a:pt x="58207" y="549838"/>
                    <a:pt x="0" y="491631"/>
                    <a:pt x="0" y="419828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275336" cy="58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06678" y="8312198"/>
            <a:ext cx="5895342" cy="1460011"/>
            <a:chOff x="0" y="0"/>
            <a:chExt cx="2275336" cy="56349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75336" cy="563498"/>
            </a:xfrm>
            <a:custGeom>
              <a:avLst/>
              <a:gdLst/>
              <a:ahLst/>
              <a:cxnLst/>
              <a:rect r="r" b="b" t="t" l="l"/>
              <a:pathLst>
                <a:path h="563498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433489"/>
                  </a:lnTo>
                  <a:cubicBezTo>
                    <a:pt x="2275336" y="505291"/>
                    <a:pt x="2217128" y="563498"/>
                    <a:pt x="2145326" y="563498"/>
                  </a:cubicBezTo>
                  <a:lnTo>
                    <a:pt x="130009" y="563498"/>
                  </a:lnTo>
                  <a:cubicBezTo>
                    <a:pt x="58207" y="563498"/>
                    <a:pt x="0" y="505291"/>
                    <a:pt x="0" y="433489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275336" cy="601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146178" y="8312198"/>
            <a:ext cx="5895342" cy="966635"/>
            <a:chOff x="0" y="0"/>
            <a:chExt cx="2275336" cy="37307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75336" cy="373077"/>
            </a:xfrm>
            <a:custGeom>
              <a:avLst/>
              <a:gdLst/>
              <a:ahLst/>
              <a:cxnLst/>
              <a:rect r="r" b="b" t="t" l="l"/>
              <a:pathLst>
                <a:path h="373077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243068"/>
                  </a:lnTo>
                  <a:cubicBezTo>
                    <a:pt x="2275336" y="314870"/>
                    <a:pt x="2217128" y="373077"/>
                    <a:pt x="2145326" y="373077"/>
                  </a:cubicBezTo>
                  <a:lnTo>
                    <a:pt x="130009" y="373077"/>
                  </a:lnTo>
                  <a:cubicBezTo>
                    <a:pt x="58207" y="373077"/>
                    <a:pt x="0" y="314870"/>
                    <a:pt x="0" y="243068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275336" cy="411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478958" y="6515386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776720" y="6515386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78958" y="8288634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093849" y="8415467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4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226358" y="4329952"/>
            <a:ext cx="1023384" cy="1023384"/>
          </a:xfrm>
          <a:custGeom>
            <a:avLst/>
            <a:gdLst/>
            <a:ahLst/>
            <a:cxnLst/>
            <a:rect r="r" b="b" t="t" l="l"/>
            <a:pathLst>
              <a:path h="1023384" w="1023384">
                <a:moveTo>
                  <a:pt x="0" y="0"/>
                </a:moveTo>
                <a:lnTo>
                  <a:pt x="1023384" y="0"/>
                </a:lnTo>
                <a:lnTo>
                  <a:pt x="1023384" y="1023384"/>
                </a:lnTo>
                <a:lnTo>
                  <a:pt x="0" y="1023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7468200" y="3401170"/>
            <a:ext cx="5251298" cy="153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API คือหัวใจของระบบตรวจพบ bug ได้เร็วก่อนกระทบ UIตรงกับความต้องการตลาดงานจริง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708174" y="6515386"/>
            <a:ext cx="4710579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. ตรวจสอบความถูกต้อง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90638" y="7227856"/>
            <a:ext cx="5251298" cy="4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ทุก Endpoint — Request &amp; Response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196992" y="6515386"/>
            <a:ext cx="4710579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. ทดสอบการทำงานร่วมกัน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468200" y="7227856"/>
            <a:ext cx="5251298" cy="4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API ↔ Database ↔ โมดูลต่างๆ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724164" y="8288634"/>
            <a:ext cx="4710579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. ประเมินความปลอดภัย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90638" y="9001104"/>
            <a:ext cx="5251298" cy="4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Authentication · Authorization · Input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7200" y="-1634502"/>
            <a:ext cx="2726942" cy="3157131"/>
            <a:chOff x="0" y="0"/>
            <a:chExt cx="211633" cy="2450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633" cy="245019"/>
            </a:xfrm>
            <a:custGeom>
              <a:avLst/>
              <a:gdLst/>
              <a:ahLst/>
              <a:cxnLst/>
              <a:rect r="r" b="b" t="t" l="l"/>
              <a:pathLst>
                <a:path h="245019" w="211633">
                  <a:moveTo>
                    <a:pt x="0" y="0"/>
                  </a:moveTo>
                  <a:lnTo>
                    <a:pt x="211633" y="0"/>
                  </a:lnTo>
                  <a:lnTo>
                    <a:pt x="211633" y="245019"/>
                  </a:lnTo>
                  <a:lnTo>
                    <a:pt x="0" y="245019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1633" cy="283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-1344230" y="-2153063"/>
            <a:ext cx="3767262" cy="3954187"/>
          </a:xfrm>
          <a:custGeom>
            <a:avLst/>
            <a:gdLst/>
            <a:ahLst/>
            <a:cxnLst/>
            <a:rect r="r" b="b" t="t" l="l"/>
            <a:pathLst>
              <a:path h="3954187" w="3767262">
                <a:moveTo>
                  <a:pt x="3767261" y="3954187"/>
                </a:moveTo>
                <a:lnTo>
                  <a:pt x="0" y="3954187"/>
                </a:lnTo>
                <a:lnTo>
                  <a:pt x="0" y="0"/>
                </a:lnTo>
                <a:lnTo>
                  <a:pt x="3767261" y="0"/>
                </a:lnTo>
                <a:lnTo>
                  <a:pt x="3767261" y="395418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585678" y="2427552"/>
            <a:ext cx="5652237" cy="6768261"/>
            <a:chOff x="0" y="0"/>
            <a:chExt cx="733230" cy="8780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3230" cy="878005"/>
            </a:xfrm>
            <a:custGeom>
              <a:avLst/>
              <a:gdLst/>
              <a:ahLst/>
              <a:cxnLst/>
              <a:rect r="r" b="b" t="t" l="l"/>
              <a:pathLst>
                <a:path h="878005" w="733230">
                  <a:moveTo>
                    <a:pt x="93140" y="0"/>
                  </a:moveTo>
                  <a:lnTo>
                    <a:pt x="640090" y="0"/>
                  </a:lnTo>
                  <a:cubicBezTo>
                    <a:pt x="664792" y="0"/>
                    <a:pt x="688483" y="9813"/>
                    <a:pt x="705950" y="27280"/>
                  </a:cubicBezTo>
                  <a:cubicBezTo>
                    <a:pt x="723417" y="44747"/>
                    <a:pt x="733230" y="68438"/>
                    <a:pt x="733230" y="93140"/>
                  </a:cubicBezTo>
                  <a:lnTo>
                    <a:pt x="733230" y="784865"/>
                  </a:lnTo>
                  <a:cubicBezTo>
                    <a:pt x="733230" y="809567"/>
                    <a:pt x="723417" y="833257"/>
                    <a:pt x="705950" y="850725"/>
                  </a:cubicBezTo>
                  <a:cubicBezTo>
                    <a:pt x="688483" y="868192"/>
                    <a:pt x="664792" y="878005"/>
                    <a:pt x="640090" y="878005"/>
                  </a:cubicBezTo>
                  <a:lnTo>
                    <a:pt x="93140" y="878005"/>
                  </a:lnTo>
                  <a:cubicBezTo>
                    <a:pt x="68438" y="878005"/>
                    <a:pt x="44747" y="868192"/>
                    <a:pt x="27280" y="850725"/>
                  </a:cubicBezTo>
                  <a:cubicBezTo>
                    <a:pt x="9813" y="833257"/>
                    <a:pt x="0" y="809567"/>
                    <a:pt x="0" y="784865"/>
                  </a:cubicBezTo>
                  <a:lnTo>
                    <a:pt x="0" y="93140"/>
                  </a:lnTo>
                  <a:cubicBezTo>
                    <a:pt x="0" y="68438"/>
                    <a:pt x="9813" y="44747"/>
                    <a:pt x="27280" y="27280"/>
                  </a:cubicBezTo>
                  <a:cubicBezTo>
                    <a:pt x="44747" y="9813"/>
                    <a:pt x="68438" y="0"/>
                    <a:pt x="93140" y="0"/>
                  </a:cubicBezTo>
                  <a:close/>
                </a:path>
              </a:pathLst>
            </a:custGeom>
            <a:blipFill>
              <a:blip r:embed="rId4"/>
              <a:stretch>
                <a:fillRect l="-25846" t="-1801" r="-15722" b="-2832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098111" y="1885224"/>
            <a:ext cx="1260770" cy="1260770"/>
          </a:xfrm>
          <a:custGeom>
            <a:avLst/>
            <a:gdLst/>
            <a:ahLst/>
            <a:cxnLst/>
            <a:rect r="r" b="b" t="t" l="l"/>
            <a:pathLst>
              <a:path h="1260770" w="1260770">
                <a:moveTo>
                  <a:pt x="0" y="0"/>
                </a:moveTo>
                <a:lnTo>
                  <a:pt x="1260770" y="0"/>
                </a:lnTo>
                <a:lnTo>
                  <a:pt x="1260770" y="1260770"/>
                </a:lnTo>
                <a:lnTo>
                  <a:pt x="0" y="12607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179155" y="1981271"/>
            <a:ext cx="1023384" cy="1023384"/>
          </a:xfrm>
          <a:custGeom>
            <a:avLst/>
            <a:gdLst/>
            <a:ahLst/>
            <a:cxnLst/>
            <a:rect r="r" b="b" t="t" l="l"/>
            <a:pathLst>
              <a:path h="1023384" w="1023384">
                <a:moveTo>
                  <a:pt x="0" y="0"/>
                </a:moveTo>
                <a:lnTo>
                  <a:pt x="1023384" y="0"/>
                </a:lnTo>
                <a:lnTo>
                  <a:pt x="1023384" y="1023385"/>
                </a:lnTo>
                <a:lnTo>
                  <a:pt x="0" y="10233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6738598" y="7989130"/>
            <a:ext cx="10141837" cy="5384393"/>
          </a:xfrm>
          <a:custGeom>
            <a:avLst/>
            <a:gdLst/>
            <a:ahLst/>
            <a:cxnLst/>
            <a:rect r="r" b="b" t="t" l="l"/>
            <a:pathLst>
              <a:path h="5384393" w="10141837">
                <a:moveTo>
                  <a:pt x="10141836" y="0"/>
                </a:moveTo>
                <a:lnTo>
                  <a:pt x="0" y="0"/>
                </a:lnTo>
                <a:lnTo>
                  <a:pt x="0" y="5384393"/>
                </a:lnTo>
                <a:lnTo>
                  <a:pt x="10141836" y="5384393"/>
                </a:lnTo>
                <a:lnTo>
                  <a:pt x="10141836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049940" y="-1634502"/>
            <a:ext cx="9920346" cy="3435626"/>
            <a:chOff x="0" y="0"/>
            <a:chExt cx="769901" cy="2666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9901" cy="266633"/>
            </a:xfrm>
            <a:custGeom>
              <a:avLst/>
              <a:gdLst/>
              <a:ahLst/>
              <a:cxnLst/>
              <a:rect r="r" b="b" t="t" l="l"/>
              <a:pathLst>
                <a:path h="266633" w="769901">
                  <a:moveTo>
                    <a:pt x="0" y="0"/>
                  </a:moveTo>
                  <a:lnTo>
                    <a:pt x="769901" y="0"/>
                  </a:lnTo>
                  <a:lnTo>
                    <a:pt x="769901" y="266633"/>
                  </a:lnTo>
                  <a:lnTo>
                    <a:pt x="0" y="266633"/>
                  </a:lnTo>
                  <a:close/>
                </a:path>
              </a:pathLst>
            </a:custGeom>
            <a:solidFill>
              <a:srgbClr val="004AAD">
                <a:alpha val="8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69901" cy="304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9400" y="2492964"/>
            <a:ext cx="5895342" cy="2720122"/>
            <a:chOff x="0" y="0"/>
            <a:chExt cx="2275336" cy="10498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75336" cy="1049844"/>
            </a:xfrm>
            <a:custGeom>
              <a:avLst/>
              <a:gdLst/>
              <a:ahLst/>
              <a:cxnLst/>
              <a:rect r="r" b="b" t="t" l="l"/>
              <a:pathLst>
                <a:path h="1049844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919835"/>
                  </a:lnTo>
                  <a:cubicBezTo>
                    <a:pt x="2275336" y="991637"/>
                    <a:pt x="2217128" y="1049844"/>
                    <a:pt x="2145326" y="1049844"/>
                  </a:cubicBezTo>
                  <a:lnTo>
                    <a:pt x="130009" y="1049844"/>
                  </a:lnTo>
                  <a:cubicBezTo>
                    <a:pt x="58207" y="1049844"/>
                    <a:pt x="0" y="991637"/>
                    <a:pt x="0" y="919835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75336" cy="1087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391981" y="2789000"/>
            <a:ext cx="646027" cy="502727"/>
          </a:xfrm>
          <a:custGeom>
            <a:avLst/>
            <a:gdLst/>
            <a:ahLst/>
            <a:cxnLst/>
            <a:rect r="r" b="b" t="t" l="l"/>
            <a:pathLst>
              <a:path h="502727" w="646027">
                <a:moveTo>
                  <a:pt x="0" y="0"/>
                </a:moveTo>
                <a:lnTo>
                  <a:pt x="646027" y="0"/>
                </a:lnTo>
                <a:lnTo>
                  <a:pt x="646027" y="502727"/>
                </a:lnTo>
                <a:lnTo>
                  <a:pt x="0" y="502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775400" y="553926"/>
            <a:ext cx="5986230" cy="67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6"/>
              </a:lnSpc>
            </a:pPr>
            <a:r>
              <a:rPr lang="en-US" sz="5600" b="true">
                <a:solidFill>
                  <a:srgbClr val="004AAD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ภาพรวมโครงงาน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61800" y="1052910"/>
            <a:ext cx="3950731" cy="69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4"/>
              </a:lnSpc>
            </a:pPr>
            <a:r>
              <a:rPr lang="en-US" sz="3499" b="true">
                <a:solidFill>
                  <a:srgbClr val="004AAD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Overview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2684032"/>
            <a:ext cx="5251298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Library Management System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31780" y="9640762"/>
            <a:ext cx="6055040" cy="35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</a:pPr>
            <a:r>
              <a:rPr lang="en-US" sz="3000">
                <a:solidFill>
                  <a:srgbClr val="22303D"/>
                </a:solidFill>
                <a:latin typeface="Anantason"/>
                <a:ea typeface="Anantason"/>
                <a:cs typeface="Anantason"/>
                <a:sym typeface="Anantason"/>
              </a:rPr>
              <a:t>หน้าที่  1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062539" y="2422112"/>
            <a:ext cx="5895342" cy="2720122"/>
            <a:chOff x="0" y="0"/>
            <a:chExt cx="2275336" cy="10498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75336" cy="1049844"/>
            </a:xfrm>
            <a:custGeom>
              <a:avLst/>
              <a:gdLst/>
              <a:ahLst/>
              <a:cxnLst/>
              <a:rect r="r" b="b" t="t" l="l"/>
              <a:pathLst>
                <a:path h="1049844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919835"/>
                  </a:lnTo>
                  <a:cubicBezTo>
                    <a:pt x="2275336" y="991637"/>
                    <a:pt x="2217128" y="1049844"/>
                    <a:pt x="2145326" y="1049844"/>
                  </a:cubicBezTo>
                  <a:lnTo>
                    <a:pt x="130009" y="1049844"/>
                  </a:lnTo>
                  <a:cubicBezTo>
                    <a:pt x="58207" y="1049844"/>
                    <a:pt x="0" y="991637"/>
                    <a:pt x="0" y="919835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75336" cy="1087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61422" y="3401170"/>
            <a:ext cx="5251298" cy="153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Web Application — Node.js BackendRESTful API + ฐานข้อมูลจัดการหนังสือ · สมาชิก · ยืม-คืน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05936" y="2684032"/>
            <a:ext cx="4175826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ทำไมถึงเลือก Option 2?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28236" y="5447193"/>
            <a:ext cx="3950731" cy="69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4"/>
              </a:lnSpc>
            </a:pPr>
            <a:r>
              <a:rPr lang="en-US" sz="3499" b="true">
                <a:solidFill>
                  <a:srgbClr val="004AAD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วัตถุประสงค์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06678" y="6550617"/>
            <a:ext cx="5895342" cy="1438513"/>
            <a:chOff x="0" y="0"/>
            <a:chExt cx="2275336" cy="55520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75336" cy="555201"/>
            </a:xfrm>
            <a:custGeom>
              <a:avLst/>
              <a:gdLst/>
              <a:ahLst/>
              <a:cxnLst/>
              <a:rect r="r" b="b" t="t" l="l"/>
              <a:pathLst>
                <a:path h="555201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425192"/>
                  </a:lnTo>
                  <a:cubicBezTo>
                    <a:pt x="2275336" y="496994"/>
                    <a:pt x="2217128" y="555201"/>
                    <a:pt x="2145326" y="555201"/>
                  </a:cubicBezTo>
                  <a:lnTo>
                    <a:pt x="130009" y="555201"/>
                  </a:lnTo>
                  <a:cubicBezTo>
                    <a:pt x="58207" y="555201"/>
                    <a:pt x="0" y="496994"/>
                    <a:pt x="0" y="425192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275336" cy="59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46178" y="6564513"/>
            <a:ext cx="5895342" cy="1424617"/>
            <a:chOff x="0" y="0"/>
            <a:chExt cx="2275336" cy="54983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75336" cy="549838"/>
            </a:xfrm>
            <a:custGeom>
              <a:avLst/>
              <a:gdLst/>
              <a:ahLst/>
              <a:cxnLst/>
              <a:rect r="r" b="b" t="t" l="l"/>
              <a:pathLst>
                <a:path h="549838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419828"/>
                  </a:lnTo>
                  <a:cubicBezTo>
                    <a:pt x="2275336" y="491631"/>
                    <a:pt x="2217128" y="549838"/>
                    <a:pt x="2145326" y="549838"/>
                  </a:cubicBezTo>
                  <a:lnTo>
                    <a:pt x="130009" y="549838"/>
                  </a:lnTo>
                  <a:cubicBezTo>
                    <a:pt x="58207" y="549838"/>
                    <a:pt x="0" y="491631"/>
                    <a:pt x="0" y="419828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275336" cy="58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06678" y="8312198"/>
            <a:ext cx="5895342" cy="1460011"/>
            <a:chOff x="0" y="0"/>
            <a:chExt cx="2275336" cy="56349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75336" cy="563498"/>
            </a:xfrm>
            <a:custGeom>
              <a:avLst/>
              <a:gdLst/>
              <a:ahLst/>
              <a:cxnLst/>
              <a:rect r="r" b="b" t="t" l="l"/>
              <a:pathLst>
                <a:path h="563498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433489"/>
                  </a:lnTo>
                  <a:cubicBezTo>
                    <a:pt x="2275336" y="505291"/>
                    <a:pt x="2217128" y="563498"/>
                    <a:pt x="2145326" y="563498"/>
                  </a:cubicBezTo>
                  <a:lnTo>
                    <a:pt x="130009" y="563498"/>
                  </a:lnTo>
                  <a:cubicBezTo>
                    <a:pt x="58207" y="563498"/>
                    <a:pt x="0" y="505291"/>
                    <a:pt x="0" y="433489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275336" cy="601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146178" y="8312198"/>
            <a:ext cx="5895342" cy="1460011"/>
            <a:chOff x="0" y="0"/>
            <a:chExt cx="2275336" cy="56349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75336" cy="563498"/>
            </a:xfrm>
            <a:custGeom>
              <a:avLst/>
              <a:gdLst/>
              <a:ahLst/>
              <a:cxnLst/>
              <a:rect r="r" b="b" t="t" l="l"/>
              <a:pathLst>
                <a:path h="563498" w="2275336">
                  <a:moveTo>
                    <a:pt x="130009" y="0"/>
                  </a:moveTo>
                  <a:lnTo>
                    <a:pt x="2145326" y="0"/>
                  </a:lnTo>
                  <a:cubicBezTo>
                    <a:pt x="2217128" y="0"/>
                    <a:pt x="2275336" y="58207"/>
                    <a:pt x="2275336" y="130009"/>
                  </a:cubicBezTo>
                  <a:lnTo>
                    <a:pt x="2275336" y="433489"/>
                  </a:lnTo>
                  <a:cubicBezTo>
                    <a:pt x="2275336" y="505291"/>
                    <a:pt x="2217128" y="563498"/>
                    <a:pt x="2145326" y="563498"/>
                  </a:cubicBezTo>
                  <a:lnTo>
                    <a:pt x="130009" y="563498"/>
                  </a:lnTo>
                  <a:cubicBezTo>
                    <a:pt x="58207" y="563498"/>
                    <a:pt x="0" y="505291"/>
                    <a:pt x="0" y="433489"/>
                  </a:cubicBezTo>
                  <a:lnTo>
                    <a:pt x="0" y="130009"/>
                  </a:lnTo>
                  <a:cubicBezTo>
                    <a:pt x="0" y="58207"/>
                    <a:pt x="58207" y="0"/>
                    <a:pt x="13000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275336" cy="601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478958" y="6515386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776720" y="6515386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78958" y="8288634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967776" y="8360605"/>
            <a:ext cx="458432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4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226358" y="4329952"/>
            <a:ext cx="1023384" cy="1023384"/>
          </a:xfrm>
          <a:custGeom>
            <a:avLst/>
            <a:gdLst/>
            <a:ahLst/>
            <a:cxnLst/>
            <a:rect r="r" b="b" t="t" l="l"/>
            <a:pathLst>
              <a:path h="1023384" w="1023384">
                <a:moveTo>
                  <a:pt x="0" y="0"/>
                </a:moveTo>
                <a:lnTo>
                  <a:pt x="1023384" y="0"/>
                </a:lnTo>
                <a:lnTo>
                  <a:pt x="1023384" y="1023384"/>
                </a:lnTo>
                <a:lnTo>
                  <a:pt x="0" y="1023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7468200" y="3401170"/>
            <a:ext cx="5251298" cy="153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API คือหัวใจของระบบตรวจพบ bug ได้เร็วก่อนกระทบ UIตรงกับความต้องการตลาดงานจริง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708174" y="6515386"/>
            <a:ext cx="4710579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. เพื่อตรวจสอบความถูกต้อง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90638" y="7227856"/>
            <a:ext cx="5251298" cy="4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ทุก Endpoint — Request &amp; Response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196992" y="6515386"/>
            <a:ext cx="4710579" cy="126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. เพื่อทดสอบการทำงานร่วมกัน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468200" y="7227856"/>
            <a:ext cx="5251298" cy="4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API ↔ Database ↔ โมดูลต่างๆ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724164" y="8288634"/>
            <a:ext cx="4710579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. เพื่อประเมินความปลอดภัย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90638" y="9001104"/>
            <a:ext cx="5251298" cy="4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Authentication · Authorization · Input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330941" y="8360605"/>
            <a:ext cx="4710579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000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. เพื่อวัดคุณภาพของระบบ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468200" y="9001104"/>
            <a:ext cx="5251298" cy="4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Coverage · Defect Density · DRE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6937643" y="7720628"/>
            <a:ext cx="10920886" cy="5797998"/>
          </a:xfrm>
          <a:custGeom>
            <a:avLst/>
            <a:gdLst/>
            <a:ahLst/>
            <a:cxnLst/>
            <a:rect r="r" b="b" t="t" l="l"/>
            <a:pathLst>
              <a:path h="5797998" w="10920886">
                <a:moveTo>
                  <a:pt x="10920886" y="0"/>
                </a:moveTo>
                <a:lnTo>
                  <a:pt x="0" y="0"/>
                </a:lnTo>
                <a:lnTo>
                  <a:pt x="0" y="5797998"/>
                </a:lnTo>
                <a:lnTo>
                  <a:pt x="10920886" y="5797998"/>
                </a:lnTo>
                <a:lnTo>
                  <a:pt x="109208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118047" y="-2461674"/>
            <a:ext cx="10920886" cy="5797998"/>
          </a:xfrm>
          <a:custGeom>
            <a:avLst/>
            <a:gdLst/>
            <a:ahLst/>
            <a:cxnLst/>
            <a:rect r="r" b="b" t="t" l="l"/>
            <a:pathLst>
              <a:path h="5797998" w="10920886">
                <a:moveTo>
                  <a:pt x="0" y="5797998"/>
                </a:moveTo>
                <a:lnTo>
                  <a:pt x="10920886" y="5797998"/>
                </a:lnTo>
                <a:lnTo>
                  <a:pt x="10920886" y="0"/>
                </a:lnTo>
                <a:lnTo>
                  <a:pt x="0" y="0"/>
                </a:lnTo>
                <a:lnTo>
                  <a:pt x="0" y="579799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477200" y="-1634502"/>
            <a:ext cx="2726942" cy="3157131"/>
            <a:chOff x="0" y="0"/>
            <a:chExt cx="211633" cy="2450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633" cy="245019"/>
            </a:xfrm>
            <a:custGeom>
              <a:avLst/>
              <a:gdLst/>
              <a:ahLst/>
              <a:cxnLst/>
              <a:rect r="r" b="b" t="t" l="l"/>
              <a:pathLst>
                <a:path h="245019" w="211633">
                  <a:moveTo>
                    <a:pt x="0" y="0"/>
                  </a:moveTo>
                  <a:lnTo>
                    <a:pt x="211633" y="0"/>
                  </a:lnTo>
                  <a:lnTo>
                    <a:pt x="211633" y="245019"/>
                  </a:lnTo>
                  <a:lnTo>
                    <a:pt x="0" y="245019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1633" cy="283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true" rot="0">
            <a:off x="-1399891" y="-2153063"/>
            <a:ext cx="3767262" cy="3954187"/>
          </a:xfrm>
          <a:custGeom>
            <a:avLst/>
            <a:gdLst/>
            <a:ahLst/>
            <a:cxnLst/>
            <a:rect r="r" b="b" t="t" l="l"/>
            <a:pathLst>
              <a:path h="3954187" w="3767262">
                <a:moveTo>
                  <a:pt x="3767262" y="3954187"/>
                </a:moveTo>
                <a:lnTo>
                  <a:pt x="0" y="3954187"/>
                </a:lnTo>
                <a:lnTo>
                  <a:pt x="0" y="0"/>
                </a:lnTo>
                <a:lnTo>
                  <a:pt x="3767262" y="0"/>
                </a:lnTo>
                <a:lnTo>
                  <a:pt x="3767262" y="395418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020868" y="-1634502"/>
            <a:ext cx="8949418" cy="3435626"/>
            <a:chOff x="0" y="0"/>
            <a:chExt cx="694549" cy="2666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4549" cy="266633"/>
            </a:xfrm>
            <a:custGeom>
              <a:avLst/>
              <a:gdLst/>
              <a:ahLst/>
              <a:cxnLst/>
              <a:rect r="r" b="b" t="t" l="l"/>
              <a:pathLst>
                <a:path h="266633" w="694549">
                  <a:moveTo>
                    <a:pt x="0" y="0"/>
                  </a:moveTo>
                  <a:lnTo>
                    <a:pt x="694549" y="0"/>
                  </a:lnTo>
                  <a:lnTo>
                    <a:pt x="694549" y="266633"/>
                  </a:lnTo>
                  <a:lnTo>
                    <a:pt x="0" y="266633"/>
                  </a:lnTo>
                  <a:close/>
                </a:path>
              </a:pathLst>
            </a:custGeom>
            <a:solidFill>
              <a:srgbClr val="004AAD">
                <a:alpha val="8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94549" cy="304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675609" y="7562300"/>
            <a:ext cx="9903583" cy="5257902"/>
          </a:xfrm>
          <a:custGeom>
            <a:avLst/>
            <a:gdLst/>
            <a:ahLst/>
            <a:cxnLst/>
            <a:rect r="r" b="b" t="t" l="l"/>
            <a:pathLst>
              <a:path h="5257902" w="9903583">
                <a:moveTo>
                  <a:pt x="0" y="0"/>
                </a:moveTo>
                <a:lnTo>
                  <a:pt x="9903583" y="0"/>
                </a:lnTo>
                <a:lnTo>
                  <a:pt x="9903583" y="5257902"/>
                </a:lnTo>
                <a:lnTo>
                  <a:pt x="0" y="5257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2" id="12"/>
          <p:cNvGraphicFramePr/>
          <p:nvPr/>
        </p:nvGraphicFramePr>
        <p:xfrm>
          <a:off x="1249742" y="3775706"/>
          <a:ext cx="5657850" cy="5029200"/>
        </p:xfrm>
        <a:graphic>
          <a:graphicData uri="http://schemas.openxmlformats.org/presentationml/2006/ole">
            <p:oleObj imgW="6781800" imgH="61595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2085850" y="783971"/>
            <a:ext cx="9119374" cy="67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6"/>
              </a:lnSpc>
            </a:pPr>
            <a:r>
              <a:rPr lang="en-US" sz="5600" b="true">
                <a:solidFill>
                  <a:srgbClr val="004AAD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ขอบเขตการทดสอบ (Scope)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31780" y="9640762"/>
            <a:ext cx="6055040" cy="35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</a:pPr>
            <a:r>
              <a:rPr lang="en-US" sz="3000">
                <a:solidFill>
                  <a:srgbClr val="22303D"/>
                </a:solidFill>
                <a:latin typeface="Anantason"/>
                <a:ea typeface="Anantason"/>
                <a:cs typeface="Anantason"/>
                <a:sym typeface="Anantason"/>
              </a:rPr>
              <a:t>หน้าที่  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2761124" y="2118363"/>
            <a:ext cx="18813321" cy="1615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4"/>
              </a:lnSpc>
            </a:pPr>
            <a:r>
              <a:rPr lang="en-US" sz="3499">
                <a:solidFill>
                  <a:srgbClr val="000000"/>
                </a:solidFill>
                <a:latin typeface="Pridi"/>
                <a:ea typeface="Pridi"/>
                <a:cs typeface="Pridi"/>
                <a:sym typeface="Pridi"/>
              </a:rPr>
              <a:t>การทดสอบมุ่งเน้นไปที่ RESTful API Endpoints </a:t>
            </a:r>
          </a:p>
          <a:p>
            <a:pPr algn="ctr">
              <a:lnSpc>
                <a:spcPts val="5144"/>
              </a:lnSpc>
            </a:pPr>
            <a:r>
              <a:rPr lang="en-US" sz="3499">
                <a:solidFill>
                  <a:srgbClr val="000000"/>
                </a:solidFill>
                <a:latin typeface="Pridi"/>
                <a:ea typeface="Pridi"/>
                <a:cs typeface="Pridi"/>
                <a:sym typeface="Pridi"/>
              </a:rPr>
              <a:t>ทั้งหมดของ Library Management System ดังต่อไปนี้:</a:t>
            </a:r>
          </a:p>
          <a:p>
            <a:pPr algn="ctr">
              <a:lnSpc>
                <a:spcPts val="24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76027" y="-1634502"/>
            <a:ext cx="12520278" cy="3435626"/>
            <a:chOff x="0" y="0"/>
            <a:chExt cx="971677" cy="2666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1677" cy="266633"/>
            </a:xfrm>
            <a:custGeom>
              <a:avLst/>
              <a:gdLst/>
              <a:ahLst/>
              <a:cxnLst/>
              <a:rect r="r" b="b" t="t" l="l"/>
              <a:pathLst>
                <a:path h="266633" w="971677">
                  <a:moveTo>
                    <a:pt x="0" y="0"/>
                  </a:moveTo>
                  <a:lnTo>
                    <a:pt x="971677" y="0"/>
                  </a:lnTo>
                  <a:lnTo>
                    <a:pt x="971677" y="266633"/>
                  </a:lnTo>
                  <a:lnTo>
                    <a:pt x="0" y="266633"/>
                  </a:lnTo>
                  <a:close/>
                </a:path>
              </a:pathLst>
            </a:custGeom>
            <a:solidFill>
              <a:srgbClr val="004AAD">
                <a:alpha val="8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71677" cy="304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477200" y="-1634502"/>
            <a:ext cx="2726942" cy="3157131"/>
            <a:chOff x="0" y="0"/>
            <a:chExt cx="211633" cy="2450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1633" cy="245019"/>
            </a:xfrm>
            <a:custGeom>
              <a:avLst/>
              <a:gdLst/>
              <a:ahLst/>
              <a:cxnLst/>
              <a:rect r="r" b="b" t="t" l="l"/>
              <a:pathLst>
                <a:path h="245019" w="211633">
                  <a:moveTo>
                    <a:pt x="0" y="0"/>
                  </a:moveTo>
                  <a:lnTo>
                    <a:pt x="211633" y="0"/>
                  </a:lnTo>
                  <a:lnTo>
                    <a:pt x="211633" y="245019"/>
                  </a:lnTo>
                  <a:lnTo>
                    <a:pt x="0" y="245019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1633" cy="283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-1344230" y="-2153063"/>
            <a:ext cx="3767262" cy="3954187"/>
          </a:xfrm>
          <a:custGeom>
            <a:avLst/>
            <a:gdLst/>
            <a:ahLst/>
            <a:cxnLst/>
            <a:rect r="r" b="b" t="t" l="l"/>
            <a:pathLst>
              <a:path h="3954187" w="3767262">
                <a:moveTo>
                  <a:pt x="3767261" y="3954187"/>
                </a:moveTo>
                <a:lnTo>
                  <a:pt x="0" y="3954187"/>
                </a:lnTo>
                <a:lnTo>
                  <a:pt x="0" y="0"/>
                </a:lnTo>
                <a:lnTo>
                  <a:pt x="3767261" y="0"/>
                </a:lnTo>
                <a:lnTo>
                  <a:pt x="3767261" y="395418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-6738598" y="7989130"/>
            <a:ext cx="10141837" cy="5384393"/>
          </a:xfrm>
          <a:custGeom>
            <a:avLst/>
            <a:gdLst/>
            <a:ahLst/>
            <a:cxnLst/>
            <a:rect r="r" b="b" t="t" l="l"/>
            <a:pathLst>
              <a:path h="5384393" w="10141837">
                <a:moveTo>
                  <a:pt x="10141836" y="0"/>
                </a:moveTo>
                <a:lnTo>
                  <a:pt x="0" y="0"/>
                </a:lnTo>
                <a:lnTo>
                  <a:pt x="0" y="5384393"/>
                </a:lnTo>
                <a:lnTo>
                  <a:pt x="10141836" y="5384393"/>
                </a:lnTo>
                <a:lnTo>
                  <a:pt x="1014183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74861" y="2229429"/>
            <a:ext cx="3496340" cy="1901135"/>
          </a:xfrm>
          <a:custGeom>
            <a:avLst/>
            <a:gdLst/>
            <a:ahLst/>
            <a:cxnLst/>
            <a:rect r="r" b="b" t="t" l="l"/>
            <a:pathLst>
              <a:path h="1901135" w="3496340">
                <a:moveTo>
                  <a:pt x="0" y="0"/>
                </a:moveTo>
                <a:lnTo>
                  <a:pt x="3496340" y="0"/>
                </a:lnTo>
                <a:lnTo>
                  <a:pt x="3496340" y="1901135"/>
                </a:lnTo>
                <a:lnTo>
                  <a:pt x="0" y="19011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09382" y="2253463"/>
            <a:ext cx="3478006" cy="1891166"/>
          </a:xfrm>
          <a:custGeom>
            <a:avLst/>
            <a:gdLst/>
            <a:ahLst/>
            <a:cxnLst/>
            <a:rect r="r" b="b" t="t" l="l"/>
            <a:pathLst>
              <a:path h="1891166" w="3478006">
                <a:moveTo>
                  <a:pt x="0" y="0"/>
                </a:moveTo>
                <a:lnTo>
                  <a:pt x="3478007" y="0"/>
                </a:lnTo>
                <a:lnTo>
                  <a:pt x="3478007" y="1891166"/>
                </a:lnTo>
                <a:lnTo>
                  <a:pt x="0" y="1891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820549" y="2239398"/>
            <a:ext cx="3616617" cy="1966536"/>
          </a:xfrm>
          <a:custGeom>
            <a:avLst/>
            <a:gdLst/>
            <a:ahLst/>
            <a:cxnLst/>
            <a:rect r="r" b="b" t="t" l="l"/>
            <a:pathLst>
              <a:path h="1966536" w="3616617">
                <a:moveTo>
                  <a:pt x="0" y="0"/>
                </a:moveTo>
                <a:lnTo>
                  <a:pt x="3616618" y="0"/>
                </a:lnTo>
                <a:lnTo>
                  <a:pt x="3616618" y="1966535"/>
                </a:lnTo>
                <a:lnTo>
                  <a:pt x="0" y="19665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63748" y="2278133"/>
            <a:ext cx="3545380" cy="1927800"/>
          </a:xfrm>
          <a:custGeom>
            <a:avLst/>
            <a:gdLst/>
            <a:ahLst/>
            <a:cxnLst/>
            <a:rect r="r" b="b" t="t" l="l"/>
            <a:pathLst>
              <a:path h="1927800" w="3545380">
                <a:moveTo>
                  <a:pt x="0" y="0"/>
                </a:moveTo>
                <a:lnTo>
                  <a:pt x="3545380" y="0"/>
                </a:lnTo>
                <a:lnTo>
                  <a:pt x="3545380" y="1927800"/>
                </a:lnTo>
                <a:lnTo>
                  <a:pt x="0" y="1927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072294" y="4320233"/>
            <a:ext cx="14607467" cy="4363981"/>
          </a:xfrm>
          <a:custGeom>
            <a:avLst/>
            <a:gdLst/>
            <a:ahLst/>
            <a:cxnLst/>
            <a:rect r="r" b="b" t="t" l="l"/>
            <a:pathLst>
              <a:path h="4363981" w="14607467">
                <a:moveTo>
                  <a:pt x="0" y="0"/>
                </a:moveTo>
                <a:lnTo>
                  <a:pt x="14607467" y="0"/>
                </a:lnTo>
                <a:lnTo>
                  <a:pt x="14607467" y="4363981"/>
                </a:lnTo>
                <a:lnTo>
                  <a:pt x="0" y="43639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561108" y="518548"/>
            <a:ext cx="6374631" cy="104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9"/>
              </a:lnSpc>
            </a:pPr>
            <a:r>
              <a:rPr lang="en-US" sz="8199" b="true">
                <a:solidFill>
                  <a:srgbClr val="004AAD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Bug Reports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31780" y="9640762"/>
            <a:ext cx="6055040" cy="35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</a:pPr>
            <a:r>
              <a:rPr lang="en-US" sz="3000">
                <a:solidFill>
                  <a:srgbClr val="22303D"/>
                </a:solidFill>
                <a:latin typeface="Anantason"/>
                <a:ea typeface="Anantason"/>
                <a:cs typeface="Anantason"/>
                <a:sym typeface="Anantason"/>
              </a:rPr>
              <a:t>หน้าที่ 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75721" y="2372109"/>
            <a:ext cx="722532" cy="80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1"/>
              </a:lnSpc>
            </a:pPr>
            <a:r>
              <a:rPr lang="en-US" sz="4041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34609" y="2391159"/>
            <a:ext cx="722532" cy="80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1"/>
              </a:lnSpc>
            </a:pPr>
            <a:r>
              <a:rPr lang="en-US" sz="4041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57734" y="2391159"/>
            <a:ext cx="510089" cy="80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1"/>
              </a:lnSpc>
            </a:pPr>
            <a:r>
              <a:rPr lang="en-US" sz="4041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136438" y="2372109"/>
            <a:ext cx="401905" cy="80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1"/>
              </a:lnSpc>
            </a:pPr>
            <a:r>
              <a:rPr lang="en-US" sz="4041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5351" y="3227621"/>
            <a:ext cx="4355360" cy="43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8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Critical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84161" y="3227621"/>
            <a:ext cx="2776583" cy="43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8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High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24487" y="3227621"/>
            <a:ext cx="2776583" cy="43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8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Medium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788968" y="3227621"/>
            <a:ext cx="2776583" cy="43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8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Low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75960" y="-1634502"/>
            <a:ext cx="9920346" cy="3435626"/>
            <a:chOff x="0" y="0"/>
            <a:chExt cx="769901" cy="2666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9901" cy="266633"/>
            </a:xfrm>
            <a:custGeom>
              <a:avLst/>
              <a:gdLst/>
              <a:ahLst/>
              <a:cxnLst/>
              <a:rect r="r" b="b" t="t" l="l"/>
              <a:pathLst>
                <a:path h="266633" w="769901">
                  <a:moveTo>
                    <a:pt x="0" y="0"/>
                  </a:moveTo>
                  <a:lnTo>
                    <a:pt x="769901" y="0"/>
                  </a:lnTo>
                  <a:lnTo>
                    <a:pt x="769901" y="266633"/>
                  </a:lnTo>
                  <a:lnTo>
                    <a:pt x="0" y="266633"/>
                  </a:lnTo>
                  <a:close/>
                </a:path>
              </a:pathLst>
            </a:custGeom>
            <a:solidFill>
              <a:srgbClr val="004AAD">
                <a:alpha val="8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9901" cy="304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477200" y="-1634502"/>
            <a:ext cx="2726942" cy="3157131"/>
            <a:chOff x="0" y="0"/>
            <a:chExt cx="211633" cy="2450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1633" cy="245019"/>
            </a:xfrm>
            <a:custGeom>
              <a:avLst/>
              <a:gdLst/>
              <a:ahLst/>
              <a:cxnLst/>
              <a:rect r="r" b="b" t="t" l="l"/>
              <a:pathLst>
                <a:path h="245019" w="211633">
                  <a:moveTo>
                    <a:pt x="0" y="0"/>
                  </a:moveTo>
                  <a:lnTo>
                    <a:pt x="211633" y="0"/>
                  </a:lnTo>
                  <a:lnTo>
                    <a:pt x="211633" y="245019"/>
                  </a:lnTo>
                  <a:lnTo>
                    <a:pt x="0" y="245019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1633" cy="283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-1344230" y="-2153063"/>
            <a:ext cx="3767262" cy="3954187"/>
          </a:xfrm>
          <a:custGeom>
            <a:avLst/>
            <a:gdLst/>
            <a:ahLst/>
            <a:cxnLst/>
            <a:rect r="r" b="b" t="t" l="l"/>
            <a:pathLst>
              <a:path h="3954187" w="3767262">
                <a:moveTo>
                  <a:pt x="3767261" y="3954187"/>
                </a:moveTo>
                <a:lnTo>
                  <a:pt x="0" y="3954187"/>
                </a:lnTo>
                <a:lnTo>
                  <a:pt x="0" y="0"/>
                </a:lnTo>
                <a:lnTo>
                  <a:pt x="3767261" y="0"/>
                </a:lnTo>
                <a:lnTo>
                  <a:pt x="3767261" y="395418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-6738598" y="7989130"/>
            <a:ext cx="10141837" cy="5384393"/>
          </a:xfrm>
          <a:custGeom>
            <a:avLst/>
            <a:gdLst/>
            <a:ahLst/>
            <a:cxnLst/>
            <a:rect r="r" b="b" t="t" l="l"/>
            <a:pathLst>
              <a:path h="5384393" w="10141837">
                <a:moveTo>
                  <a:pt x="10141836" y="0"/>
                </a:moveTo>
                <a:lnTo>
                  <a:pt x="0" y="0"/>
                </a:lnTo>
                <a:lnTo>
                  <a:pt x="0" y="5384393"/>
                </a:lnTo>
                <a:lnTo>
                  <a:pt x="10141836" y="5384393"/>
                </a:lnTo>
                <a:lnTo>
                  <a:pt x="1014183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82988" y="2239398"/>
            <a:ext cx="3880087" cy="2109797"/>
          </a:xfrm>
          <a:custGeom>
            <a:avLst/>
            <a:gdLst/>
            <a:ahLst/>
            <a:cxnLst/>
            <a:rect r="r" b="b" t="t" l="l"/>
            <a:pathLst>
              <a:path h="2109797" w="3880087">
                <a:moveTo>
                  <a:pt x="0" y="0"/>
                </a:moveTo>
                <a:lnTo>
                  <a:pt x="3880087" y="0"/>
                </a:lnTo>
                <a:lnTo>
                  <a:pt x="3880087" y="2109797"/>
                </a:lnTo>
                <a:lnTo>
                  <a:pt x="0" y="21097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55652" y="2239398"/>
            <a:ext cx="3880087" cy="2109797"/>
          </a:xfrm>
          <a:custGeom>
            <a:avLst/>
            <a:gdLst/>
            <a:ahLst/>
            <a:cxnLst/>
            <a:rect r="r" b="b" t="t" l="l"/>
            <a:pathLst>
              <a:path h="2109797" w="3880087">
                <a:moveTo>
                  <a:pt x="0" y="0"/>
                </a:moveTo>
                <a:lnTo>
                  <a:pt x="3880087" y="0"/>
                </a:lnTo>
                <a:lnTo>
                  <a:pt x="3880087" y="2109797"/>
                </a:lnTo>
                <a:lnTo>
                  <a:pt x="0" y="21097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628317" y="2239398"/>
            <a:ext cx="3880087" cy="2109797"/>
          </a:xfrm>
          <a:custGeom>
            <a:avLst/>
            <a:gdLst/>
            <a:ahLst/>
            <a:cxnLst/>
            <a:rect r="r" b="b" t="t" l="l"/>
            <a:pathLst>
              <a:path h="2109797" w="3880087">
                <a:moveTo>
                  <a:pt x="0" y="0"/>
                </a:moveTo>
                <a:lnTo>
                  <a:pt x="3880087" y="0"/>
                </a:lnTo>
                <a:lnTo>
                  <a:pt x="3880087" y="2109797"/>
                </a:lnTo>
                <a:lnTo>
                  <a:pt x="0" y="21097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029041" y="2239398"/>
            <a:ext cx="3880087" cy="2109797"/>
          </a:xfrm>
          <a:custGeom>
            <a:avLst/>
            <a:gdLst/>
            <a:ahLst/>
            <a:cxnLst/>
            <a:rect r="r" b="b" t="t" l="l"/>
            <a:pathLst>
              <a:path h="2109797" w="3880087">
                <a:moveTo>
                  <a:pt x="0" y="0"/>
                </a:moveTo>
                <a:lnTo>
                  <a:pt x="3880087" y="0"/>
                </a:lnTo>
                <a:lnTo>
                  <a:pt x="3880087" y="2109797"/>
                </a:lnTo>
                <a:lnTo>
                  <a:pt x="0" y="21097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268896" y="6538040"/>
            <a:ext cx="11094852" cy="2902180"/>
          </a:xfrm>
          <a:custGeom>
            <a:avLst/>
            <a:gdLst/>
            <a:ahLst/>
            <a:cxnLst/>
            <a:rect r="r" b="b" t="t" l="l"/>
            <a:pathLst>
              <a:path h="2902180" w="11094852">
                <a:moveTo>
                  <a:pt x="0" y="0"/>
                </a:moveTo>
                <a:lnTo>
                  <a:pt x="11094852" y="0"/>
                </a:lnTo>
                <a:lnTo>
                  <a:pt x="11094852" y="2902180"/>
                </a:lnTo>
                <a:lnTo>
                  <a:pt x="0" y="29021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648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23031" y="431546"/>
            <a:ext cx="8869176" cy="1377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5600" b="true">
                <a:solidFill>
                  <a:srgbClr val="004AAD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Unit Tests and Integration Tests Results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31780" y="9640762"/>
            <a:ext cx="6055040" cy="35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</a:pPr>
            <a:r>
              <a:rPr lang="en-US" sz="3000">
                <a:solidFill>
                  <a:srgbClr val="22303D"/>
                </a:solidFill>
                <a:latin typeface="Anantason"/>
                <a:ea typeface="Anantason"/>
                <a:cs typeface="Anantason"/>
                <a:sym typeface="Anantason"/>
              </a:rPr>
              <a:t>หน้าที่ 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61765" y="2391159"/>
            <a:ext cx="722532" cy="80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1"/>
              </a:lnSpc>
            </a:pPr>
            <a:r>
              <a:rPr lang="en-US" sz="4041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18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34430" y="2391159"/>
            <a:ext cx="722532" cy="80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1"/>
              </a:lnSpc>
            </a:pPr>
            <a:r>
              <a:rPr lang="en-US" sz="4041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45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02689" y="2391159"/>
            <a:ext cx="1229379" cy="80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1"/>
              </a:lnSpc>
            </a:pPr>
            <a:r>
              <a:rPr lang="en-US" sz="4041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82%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041569" y="2391159"/>
            <a:ext cx="2217731" cy="80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1"/>
              </a:lnSpc>
            </a:pPr>
            <a:r>
              <a:rPr lang="en-US" sz="4041" b="true">
                <a:solidFill>
                  <a:srgbClr val="FFFFFF"/>
                </a:solidFill>
                <a:latin typeface="Anantason Semi-Bold"/>
                <a:ea typeface="Anantason Semi-Bold"/>
                <a:cs typeface="Anantason Semi-Bold"/>
                <a:sym typeface="Anantason Semi-Bold"/>
              </a:rPr>
              <a:t>245 MS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5351" y="3227621"/>
            <a:ext cx="4355360" cy="87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8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Unit Tests (Jest)</a:t>
            </a:r>
          </a:p>
          <a:p>
            <a:pPr algn="ctr">
              <a:lnSpc>
                <a:spcPts val="3528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Pass ทั้งหมด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07405" y="3227621"/>
            <a:ext cx="2776583" cy="87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8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Integration</a:t>
            </a:r>
          </a:p>
          <a:p>
            <a:pPr algn="ctr">
              <a:lnSpc>
                <a:spcPts val="3528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 TestsSupertest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24487" y="3227621"/>
            <a:ext cx="2776583" cy="87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8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Integration</a:t>
            </a:r>
          </a:p>
          <a:p>
            <a:pPr algn="ctr">
              <a:lnSpc>
                <a:spcPts val="3528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 TestsSupertest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80793" y="3227621"/>
            <a:ext cx="2776583" cy="87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8"/>
              </a:lnSpc>
            </a:pPr>
            <a:r>
              <a:rPr lang="en-US" sz="24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Avg Response Timeอยู่ในเกณฑ์ดี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9400" y="5769551"/>
            <a:ext cx="5966996" cy="43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8"/>
              </a:lnSpc>
            </a:pPr>
            <a:r>
              <a:rPr lang="en-US" b="true" sz="2400">
                <a:solidFill>
                  <a:srgbClr val="000000"/>
                </a:solidFill>
                <a:latin typeface="Anantason Medium"/>
                <a:ea typeface="Anantason Medium"/>
                <a:cs typeface="Anantason Medium"/>
                <a:sym typeface="Anantason Medium"/>
              </a:rPr>
              <a:t>API Test Cases Summary (40 cases)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286419" y="3504213"/>
            <a:ext cx="18788233" cy="3564324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805457" y="4592965"/>
            <a:ext cx="5966996" cy="3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0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Code Coverage (เป้าหมาย 70%+)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1736" y="9638860"/>
            <a:ext cx="8396581" cy="3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000">
                <a:solidFill>
                  <a:srgbClr val="757575"/>
                </a:solidFill>
                <a:latin typeface="Pridi"/>
                <a:ea typeface="Pridi"/>
                <a:cs typeface="Pridi"/>
                <a:sym typeface="Pridi"/>
              </a:rPr>
              <a:t>* Unit Tests (Jest) ผ่านทั้งหมด — Code Coverage 82% (เกินเป้า 70%)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06396" y="1155071"/>
            <a:ext cx="4151170" cy="54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3099">
                <a:solidFill>
                  <a:srgbClr val="004AAD"/>
                </a:solidFill>
                <a:latin typeface="Anantason"/>
                <a:ea typeface="Anantason"/>
                <a:cs typeface="Anantason"/>
                <a:sym typeface="Anantason"/>
              </a:rPr>
              <a:t>Jest + Supertest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6937643" y="7720628"/>
            <a:ext cx="10920886" cy="5797998"/>
          </a:xfrm>
          <a:custGeom>
            <a:avLst/>
            <a:gdLst/>
            <a:ahLst/>
            <a:cxnLst/>
            <a:rect r="r" b="b" t="t" l="l"/>
            <a:pathLst>
              <a:path h="5797998" w="10920886">
                <a:moveTo>
                  <a:pt x="10920886" y="0"/>
                </a:moveTo>
                <a:lnTo>
                  <a:pt x="0" y="0"/>
                </a:lnTo>
                <a:lnTo>
                  <a:pt x="0" y="5797998"/>
                </a:lnTo>
                <a:lnTo>
                  <a:pt x="10920886" y="5797998"/>
                </a:lnTo>
                <a:lnTo>
                  <a:pt x="109208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118047" y="-2461674"/>
            <a:ext cx="10920886" cy="5797998"/>
          </a:xfrm>
          <a:custGeom>
            <a:avLst/>
            <a:gdLst/>
            <a:ahLst/>
            <a:cxnLst/>
            <a:rect r="r" b="b" t="t" l="l"/>
            <a:pathLst>
              <a:path h="5797998" w="10920886">
                <a:moveTo>
                  <a:pt x="0" y="5797998"/>
                </a:moveTo>
                <a:lnTo>
                  <a:pt x="10920886" y="5797998"/>
                </a:lnTo>
                <a:lnTo>
                  <a:pt x="10920886" y="0"/>
                </a:lnTo>
                <a:lnTo>
                  <a:pt x="0" y="0"/>
                </a:lnTo>
                <a:lnTo>
                  <a:pt x="0" y="579799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477200" y="-1634502"/>
            <a:ext cx="2726942" cy="3157131"/>
            <a:chOff x="0" y="0"/>
            <a:chExt cx="211633" cy="2450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633" cy="245019"/>
            </a:xfrm>
            <a:custGeom>
              <a:avLst/>
              <a:gdLst/>
              <a:ahLst/>
              <a:cxnLst/>
              <a:rect r="r" b="b" t="t" l="l"/>
              <a:pathLst>
                <a:path h="245019" w="211633">
                  <a:moveTo>
                    <a:pt x="0" y="0"/>
                  </a:moveTo>
                  <a:lnTo>
                    <a:pt x="211633" y="0"/>
                  </a:lnTo>
                  <a:lnTo>
                    <a:pt x="211633" y="245019"/>
                  </a:lnTo>
                  <a:lnTo>
                    <a:pt x="0" y="245019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1633" cy="283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true" rot="0">
            <a:off x="-1399891" y="-2153063"/>
            <a:ext cx="3767262" cy="3954187"/>
          </a:xfrm>
          <a:custGeom>
            <a:avLst/>
            <a:gdLst/>
            <a:ahLst/>
            <a:cxnLst/>
            <a:rect r="r" b="b" t="t" l="l"/>
            <a:pathLst>
              <a:path h="3954187" w="3767262">
                <a:moveTo>
                  <a:pt x="3767262" y="3954187"/>
                </a:moveTo>
                <a:lnTo>
                  <a:pt x="0" y="3954187"/>
                </a:lnTo>
                <a:lnTo>
                  <a:pt x="0" y="0"/>
                </a:lnTo>
                <a:lnTo>
                  <a:pt x="3767262" y="0"/>
                </a:lnTo>
                <a:lnTo>
                  <a:pt x="3767262" y="395418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588298" y="-1634502"/>
            <a:ext cx="10381988" cy="3435626"/>
            <a:chOff x="0" y="0"/>
            <a:chExt cx="805728" cy="2666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5728" cy="266633"/>
            </a:xfrm>
            <a:custGeom>
              <a:avLst/>
              <a:gdLst/>
              <a:ahLst/>
              <a:cxnLst/>
              <a:rect r="r" b="b" t="t" l="l"/>
              <a:pathLst>
                <a:path h="266633" w="805728">
                  <a:moveTo>
                    <a:pt x="0" y="0"/>
                  </a:moveTo>
                  <a:lnTo>
                    <a:pt x="805728" y="0"/>
                  </a:lnTo>
                  <a:lnTo>
                    <a:pt x="805728" y="266633"/>
                  </a:lnTo>
                  <a:lnTo>
                    <a:pt x="0" y="266633"/>
                  </a:lnTo>
                  <a:close/>
                </a:path>
              </a:pathLst>
            </a:custGeom>
            <a:solidFill>
              <a:srgbClr val="004AAD">
                <a:alpha val="8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05728" cy="304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675609" y="7562300"/>
            <a:ext cx="9903583" cy="5257902"/>
          </a:xfrm>
          <a:custGeom>
            <a:avLst/>
            <a:gdLst/>
            <a:ahLst/>
            <a:cxnLst/>
            <a:rect r="r" b="b" t="t" l="l"/>
            <a:pathLst>
              <a:path h="5257902" w="9903583">
                <a:moveTo>
                  <a:pt x="0" y="0"/>
                </a:moveTo>
                <a:lnTo>
                  <a:pt x="9903583" y="0"/>
                </a:lnTo>
                <a:lnTo>
                  <a:pt x="9903583" y="5257902"/>
                </a:lnTo>
                <a:lnTo>
                  <a:pt x="0" y="5257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35399" y="479171"/>
            <a:ext cx="7108601" cy="128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6"/>
              </a:lnSpc>
            </a:pPr>
            <a:r>
              <a:rPr lang="en-US" sz="5600" b="true">
                <a:solidFill>
                  <a:srgbClr val="004AAD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Test Strategy — กลยุทธ์การทดสอบ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525321" y="2182125"/>
            <a:ext cx="18813321" cy="96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4"/>
              </a:lnSpc>
            </a:pPr>
            <a:r>
              <a:rPr lang="en-US" sz="3499">
                <a:solidFill>
                  <a:srgbClr val="000000"/>
                </a:solidFill>
                <a:latin typeface="Pridi"/>
                <a:ea typeface="Pridi"/>
                <a:cs typeface="Pridi"/>
                <a:sym typeface="Pridi"/>
              </a:rPr>
              <a:t>ใช้แนวทาง Risk-Based Testing โดยให้ความสำคัญกับ endpoints ที่มีความเสี่ยงสูงก่อน </a:t>
            </a:r>
          </a:p>
          <a:p>
            <a:pPr algn="ctr">
              <a:lnSpc>
                <a:spcPts val="249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249742" y="3787111"/>
            <a:ext cx="7736220" cy="5201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2"/>
              </a:lnSpc>
            </a:pPr>
            <a:r>
              <a:rPr lang="en-US" sz="24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1.Unit Testing (White Box)</a:t>
            </a:r>
          </a:p>
          <a:p>
            <a:pPr algn="l">
              <a:lnSpc>
                <a:spcPts val="4152"/>
              </a:lnSpc>
            </a:pPr>
            <a:r>
              <a:rPr lang="en-US" sz="24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•เครื่องมือ: Jest</a:t>
            </a:r>
          </a:p>
          <a:p>
            <a:pPr algn="l">
              <a:lnSpc>
                <a:spcPts val="4152"/>
              </a:lnSpc>
            </a:pPr>
            <a:r>
              <a:rPr lang="en-US" sz="24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•ผลลัพธ์: ผ่านทั้งหมด, Code Coverage &gt;80% (เกินเป้าหมาย 70%)</a:t>
            </a:r>
          </a:p>
          <a:p>
            <a:pPr algn="l">
              <a:lnSpc>
                <a:spcPts val="4152"/>
              </a:lnSpc>
            </a:pPr>
          </a:p>
          <a:p>
            <a:pPr algn="l">
              <a:lnSpc>
                <a:spcPts val="4152"/>
              </a:lnSpc>
            </a:pPr>
            <a:r>
              <a:rPr lang="en-US" sz="24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2 Integration Testing</a:t>
            </a:r>
          </a:p>
          <a:p>
            <a:pPr algn="l">
              <a:lnSpc>
                <a:spcPts val="4152"/>
              </a:lnSpc>
            </a:pPr>
            <a:r>
              <a:rPr lang="en-US" sz="24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•เครื่องมือ: Supertest</a:t>
            </a:r>
          </a:p>
          <a:p>
            <a:pPr algn="l">
              <a:lnSpc>
                <a:spcPts val="4152"/>
              </a:lnSpc>
            </a:pPr>
            <a:r>
              <a:rPr lang="en-US" sz="24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•ผลลัพธ์: ทดสอบ API endpoints กับ database จริง ออกแบบการทดสอบครอบคลุม Edge cases ถึง 45 test cases พร้อมบันทึก Response Time เพื่อวิเคราะห์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6937643" y="7720628"/>
            <a:ext cx="10920886" cy="5797998"/>
          </a:xfrm>
          <a:custGeom>
            <a:avLst/>
            <a:gdLst/>
            <a:ahLst/>
            <a:cxnLst/>
            <a:rect r="r" b="b" t="t" l="l"/>
            <a:pathLst>
              <a:path h="5797998" w="10920886">
                <a:moveTo>
                  <a:pt x="10920886" y="0"/>
                </a:moveTo>
                <a:lnTo>
                  <a:pt x="0" y="0"/>
                </a:lnTo>
                <a:lnTo>
                  <a:pt x="0" y="5797998"/>
                </a:lnTo>
                <a:lnTo>
                  <a:pt x="10920886" y="5797998"/>
                </a:lnTo>
                <a:lnTo>
                  <a:pt x="109208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118047" y="-2461674"/>
            <a:ext cx="10920886" cy="5797998"/>
          </a:xfrm>
          <a:custGeom>
            <a:avLst/>
            <a:gdLst/>
            <a:ahLst/>
            <a:cxnLst/>
            <a:rect r="r" b="b" t="t" l="l"/>
            <a:pathLst>
              <a:path h="5797998" w="10920886">
                <a:moveTo>
                  <a:pt x="0" y="5797998"/>
                </a:moveTo>
                <a:lnTo>
                  <a:pt x="10920886" y="5797998"/>
                </a:lnTo>
                <a:lnTo>
                  <a:pt x="10920886" y="0"/>
                </a:lnTo>
                <a:lnTo>
                  <a:pt x="0" y="0"/>
                </a:lnTo>
                <a:lnTo>
                  <a:pt x="0" y="579799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477200" y="-1634502"/>
            <a:ext cx="2726942" cy="3157131"/>
            <a:chOff x="0" y="0"/>
            <a:chExt cx="211633" cy="2450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633" cy="245019"/>
            </a:xfrm>
            <a:custGeom>
              <a:avLst/>
              <a:gdLst/>
              <a:ahLst/>
              <a:cxnLst/>
              <a:rect r="r" b="b" t="t" l="l"/>
              <a:pathLst>
                <a:path h="245019" w="211633">
                  <a:moveTo>
                    <a:pt x="0" y="0"/>
                  </a:moveTo>
                  <a:lnTo>
                    <a:pt x="211633" y="0"/>
                  </a:lnTo>
                  <a:lnTo>
                    <a:pt x="211633" y="245019"/>
                  </a:lnTo>
                  <a:lnTo>
                    <a:pt x="0" y="245019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1633" cy="283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true" rot="0">
            <a:off x="-1399891" y="-2153063"/>
            <a:ext cx="3767262" cy="3954187"/>
          </a:xfrm>
          <a:custGeom>
            <a:avLst/>
            <a:gdLst/>
            <a:ahLst/>
            <a:cxnLst/>
            <a:rect r="r" b="b" t="t" l="l"/>
            <a:pathLst>
              <a:path h="3954187" w="3767262">
                <a:moveTo>
                  <a:pt x="3767262" y="3954187"/>
                </a:moveTo>
                <a:lnTo>
                  <a:pt x="0" y="3954187"/>
                </a:lnTo>
                <a:lnTo>
                  <a:pt x="0" y="0"/>
                </a:lnTo>
                <a:lnTo>
                  <a:pt x="3767262" y="0"/>
                </a:lnTo>
                <a:lnTo>
                  <a:pt x="3767262" y="395418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588298" y="-1634502"/>
            <a:ext cx="10381988" cy="3435626"/>
            <a:chOff x="0" y="0"/>
            <a:chExt cx="805728" cy="2666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5728" cy="266633"/>
            </a:xfrm>
            <a:custGeom>
              <a:avLst/>
              <a:gdLst/>
              <a:ahLst/>
              <a:cxnLst/>
              <a:rect r="r" b="b" t="t" l="l"/>
              <a:pathLst>
                <a:path h="266633" w="805728">
                  <a:moveTo>
                    <a:pt x="0" y="0"/>
                  </a:moveTo>
                  <a:lnTo>
                    <a:pt x="805728" y="0"/>
                  </a:lnTo>
                  <a:lnTo>
                    <a:pt x="805728" y="266633"/>
                  </a:lnTo>
                  <a:lnTo>
                    <a:pt x="0" y="266633"/>
                  </a:lnTo>
                  <a:close/>
                </a:path>
              </a:pathLst>
            </a:custGeom>
            <a:solidFill>
              <a:srgbClr val="004AAD">
                <a:alpha val="8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05728" cy="304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675609" y="7562300"/>
            <a:ext cx="9903583" cy="5257902"/>
          </a:xfrm>
          <a:custGeom>
            <a:avLst/>
            <a:gdLst/>
            <a:ahLst/>
            <a:cxnLst/>
            <a:rect r="r" b="b" t="t" l="l"/>
            <a:pathLst>
              <a:path h="5257902" w="9903583">
                <a:moveTo>
                  <a:pt x="0" y="0"/>
                </a:moveTo>
                <a:lnTo>
                  <a:pt x="9903583" y="0"/>
                </a:lnTo>
                <a:lnTo>
                  <a:pt x="9903583" y="5257902"/>
                </a:lnTo>
                <a:lnTo>
                  <a:pt x="0" y="5257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35399" y="479171"/>
            <a:ext cx="7108601" cy="128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6"/>
              </a:lnSpc>
            </a:pPr>
            <a:r>
              <a:rPr lang="en-US" sz="5600" b="true">
                <a:solidFill>
                  <a:srgbClr val="004AAD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Test Strategy — กลยุทธ์การทดสอบ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525321" y="2182125"/>
            <a:ext cx="18813321" cy="96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4"/>
              </a:lnSpc>
            </a:pPr>
            <a:r>
              <a:rPr lang="en-US" sz="3499">
                <a:solidFill>
                  <a:srgbClr val="000000"/>
                </a:solidFill>
                <a:latin typeface="Pridi"/>
                <a:ea typeface="Pridi"/>
                <a:cs typeface="Pridi"/>
                <a:sym typeface="Pridi"/>
              </a:rPr>
              <a:t>ใช้แนวทาง Risk-Based Testing โดยให้ความสำคัญกับ endpoints ที่มีความเสี่ยงสูงก่อน </a:t>
            </a:r>
          </a:p>
          <a:p>
            <a:pPr algn="ctr">
              <a:lnSpc>
                <a:spcPts val="249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3026421"/>
            <a:ext cx="7736220" cy="624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2"/>
              </a:lnSpc>
            </a:pPr>
          </a:p>
          <a:p>
            <a:pPr algn="l">
              <a:lnSpc>
                <a:spcPts val="4152"/>
              </a:lnSpc>
            </a:pPr>
            <a:r>
              <a:rPr lang="en-US" sz="24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3 Contract Testing</a:t>
            </a:r>
          </a:p>
          <a:p>
            <a:pPr algn="l">
              <a:lnSpc>
                <a:spcPts val="4152"/>
              </a:lnSpc>
            </a:pPr>
            <a:r>
              <a:rPr lang="en-US" sz="24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แนวทาง: กำหนด JSON Schema และตรวจสอบทุก response ที่ระบบตอบกลับมาว่ามี data type และรูปแบบถูกต้องตาม specification</a:t>
            </a:r>
          </a:p>
          <a:p>
            <a:pPr algn="l">
              <a:lnSpc>
                <a:spcPts val="4152"/>
              </a:lnSpc>
            </a:pPr>
          </a:p>
          <a:p>
            <a:pPr algn="l">
              <a:lnSpc>
                <a:spcPts val="4152"/>
              </a:lnSpc>
            </a:pPr>
            <a:r>
              <a:rPr lang="en-US" sz="24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4 Security Testing (Black Box)</a:t>
            </a:r>
          </a:p>
          <a:p>
            <a:pPr algn="l">
              <a:lnSpc>
                <a:spcPts val="4152"/>
              </a:lnSpc>
            </a:pPr>
            <a:r>
              <a:rPr lang="en-US" sz="24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•เครื่องมือ: Postman</a:t>
            </a:r>
          </a:p>
          <a:p>
            <a:pPr algn="l">
              <a:lnSpc>
                <a:spcPts val="4152"/>
              </a:lnSpc>
            </a:pPr>
            <a:r>
              <a:rPr lang="en-US" sz="24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•การทดสอบ: เน้นยิง SQL Injection payload, ตรวจสอบการเข้าถึงโดยไม่มี Token (Authentication), และยิง Request ซ้ำๆ 50+ ครั้งเพื่อหาช่องโหว่ Rate Limiting</a:t>
            </a:r>
          </a:p>
          <a:p>
            <a:pPr algn="l">
              <a:lnSpc>
                <a:spcPts val="4152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6937643" y="7720628"/>
            <a:ext cx="10920886" cy="5797998"/>
          </a:xfrm>
          <a:custGeom>
            <a:avLst/>
            <a:gdLst/>
            <a:ahLst/>
            <a:cxnLst/>
            <a:rect r="r" b="b" t="t" l="l"/>
            <a:pathLst>
              <a:path h="5797998" w="10920886">
                <a:moveTo>
                  <a:pt x="10920886" y="0"/>
                </a:moveTo>
                <a:lnTo>
                  <a:pt x="0" y="0"/>
                </a:lnTo>
                <a:lnTo>
                  <a:pt x="0" y="5797998"/>
                </a:lnTo>
                <a:lnTo>
                  <a:pt x="10920886" y="5797998"/>
                </a:lnTo>
                <a:lnTo>
                  <a:pt x="109208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118047" y="-2461674"/>
            <a:ext cx="10920886" cy="5797998"/>
          </a:xfrm>
          <a:custGeom>
            <a:avLst/>
            <a:gdLst/>
            <a:ahLst/>
            <a:cxnLst/>
            <a:rect r="r" b="b" t="t" l="l"/>
            <a:pathLst>
              <a:path h="5797998" w="10920886">
                <a:moveTo>
                  <a:pt x="0" y="5797998"/>
                </a:moveTo>
                <a:lnTo>
                  <a:pt x="10920886" y="5797998"/>
                </a:lnTo>
                <a:lnTo>
                  <a:pt x="10920886" y="0"/>
                </a:lnTo>
                <a:lnTo>
                  <a:pt x="0" y="0"/>
                </a:lnTo>
                <a:lnTo>
                  <a:pt x="0" y="579799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477200" y="-1634502"/>
            <a:ext cx="2726942" cy="3157131"/>
            <a:chOff x="0" y="0"/>
            <a:chExt cx="211633" cy="2450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633" cy="245019"/>
            </a:xfrm>
            <a:custGeom>
              <a:avLst/>
              <a:gdLst/>
              <a:ahLst/>
              <a:cxnLst/>
              <a:rect r="r" b="b" t="t" l="l"/>
              <a:pathLst>
                <a:path h="245019" w="211633">
                  <a:moveTo>
                    <a:pt x="0" y="0"/>
                  </a:moveTo>
                  <a:lnTo>
                    <a:pt x="211633" y="0"/>
                  </a:lnTo>
                  <a:lnTo>
                    <a:pt x="211633" y="245019"/>
                  </a:lnTo>
                  <a:lnTo>
                    <a:pt x="0" y="245019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1633" cy="283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true" rot="0">
            <a:off x="-1399891" y="-2153063"/>
            <a:ext cx="3767262" cy="3954187"/>
          </a:xfrm>
          <a:custGeom>
            <a:avLst/>
            <a:gdLst/>
            <a:ahLst/>
            <a:cxnLst/>
            <a:rect r="r" b="b" t="t" l="l"/>
            <a:pathLst>
              <a:path h="3954187" w="3767262">
                <a:moveTo>
                  <a:pt x="3767262" y="3954187"/>
                </a:moveTo>
                <a:lnTo>
                  <a:pt x="0" y="3954187"/>
                </a:lnTo>
                <a:lnTo>
                  <a:pt x="0" y="0"/>
                </a:lnTo>
                <a:lnTo>
                  <a:pt x="3767262" y="0"/>
                </a:lnTo>
                <a:lnTo>
                  <a:pt x="3767262" y="395418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497562" y="-1634502"/>
            <a:ext cx="10472724" cy="3435626"/>
            <a:chOff x="0" y="0"/>
            <a:chExt cx="812770" cy="2666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770" cy="266633"/>
            </a:xfrm>
            <a:custGeom>
              <a:avLst/>
              <a:gdLst/>
              <a:ahLst/>
              <a:cxnLst/>
              <a:rect r="r" b="b" t="t" l="l"/>
              <a:pathLst>
                <a:path h="266633" w="812770">
                  <a:moveTo>
                    <a:pt x="0" y="0"/>
                  </a:moveTo>
                  <a:lnTo>
                    <a:pt x="812770" y="0"/>
                  </a:lnTo>
                  <a:lnTo>
                    <a:pt x="812770" y="266633"/>
                  </a:lnTo>
                  <a:lnTo>
                    <a:pt x="0" y="266633"/>
                  </a:lnTo>
                  <a:close/>
                </a:path>
              </a:pathLst>
            </a:custGeom>
            <a:solidFill>
              <a:srgbClr val="004AAD">
                <a:alpha val="8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770" cy="304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675609" y="7562300"/>
            <a:ext cx="9903583" cy="5257902"/>
          </a:xfrm>
          <a:custGeom>
            <a:avLst/>
            <a:gdLst/>
            <a:ahLst/>
            <a:cxnLst/>
            <a:rect r="r" b="b" t="t" l="l"/>
            <a:pathLst>
              <a:path h="5257902" w="9903583">
                <a:moveTo>
                  <a:pt x="0" y="0"/>
                </a:moveTo>
                <a:lnTo>
                  <a:pt x="9903583" y="0"/>
                </a:lnTo>
                <a:lnTo>
                  <a:pt x="9903583" y="5257902"/>
                </a:lnTo>
                <a:lnTo>
                  <a:pt x="0" y="5257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261035" y="3045974"/>
            <a:ext cx="13765929" cy="6039802"/>
          </a:xfrm>
          <a:custGeom>
            <a:avLst/>
            <a:gdLst/>
            <a:ahLst/>
            <a:cxnLst/>
            <a:rect r="r" b="b" t="t" l="l"/>
            <a:pathLst>
              <a:path h="6039802" w="13765929">
                <a:moveTo>
                  <a:pt x="0" y="0"/>
                </a:moveTo>
                <a:lnTo>
                  <a:pt x="13765930" y="0"/>
                </a:lnTo>
                <a:lnTo>
                  <a:pt x="13765930" y="6039802"/>
                </a:lnTo>
                <a:lnTo>
                  <a:pt x="0" y="60398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231780" y="9640762"/>
            <a:ext cx="6055040" cy="35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</a:pPr>
            <a:r>
              <a:rPr lang="en-US" sz="3000">
                <a:solidFill>
                  <a:srgbClr val="22303D"/>
                </a:solidFill>
                <a:latin typeface="Anantason"/>
                <a:ea typeface="Anantason"/>
                <a:cs typeface="Anantason"/>
                <a:sym typeface="Anantason"/>
              </a:rPr>
              <a:t>หน้าที่  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35399" y="783971"/>
            <a:ext cx="7108601" cy="67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6"/>
              </a:lnSpc>
            </a:pPr>
            <a:r>
              <a:rPr lang="en-US" sz="5600" b="true">
                <a:solidFill>
                  <a:srgbClr val="004AAD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ตัวอย่าง Test Cases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13742" y="2035943"/>
            <a:ext cx="7736220" cy="101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2"/>
              </a:lnSpc>
            </a:pPr>
            <a:r>
              <a:rPr lang="en-US" sz="24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TC-001: มี user ในระบบ (admin/admin123)</a:t>
            </a:r>
          </a:p>
          <a:p>
            <a:pPr algn="l">
              <a:lnSpc>
                <a:spcPts val="4152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6937643" y="7720628"/>
            <a:ext cx="10920886" cy="5797998"/>
          </a:xfrm>
          <a:custGeom>
            <a:avLst/>
            <a:gdLst/>
            <a:ahLst/>
            <a:cxnLst/>
            <a:rect r="r" b="b" t="t" l="l"/>
            <a:pathLst>
              <a:path h="5797998" w="10920886">
                <a:moveTo>
                  <a:pt x="10920886" y="0"/>
                </a:moveTo>
                <a:lnTo>
                  <a:pt x="0" y="0"/>
                </a:lnTo>
                <a:lnTo>
                  <a:pt x="0" y="5797998"/>
                </a:lnTo>
                <a:lnTo>
                  <a:pt x="10920886" y="5797998"/>
                </a:lnTo>
                <a:lnTo>
                  <a:pt x="109208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118047" y="-2461674"/>
            <a:ext cx="10920886" cy="5797998"/>
          </a:xfrm>
          <a:custGeom>
            <a:avLst/>
            <a:gdLst/>
            <a:ahLst/>
            <a:cxnLst/>
            <a:rect r="r" b="b" t="t" l="l"/>
            <a:pathLst>
              <a:path h="5797998" w="10920886">
                <a:moveTo>
                  <a:pt x="0" y="5797998"/>
                </a:moveTo>
                <a:lnTo>
                  <a:pt x="10920886" y="5797998"/>
                </a:lnTo>
                <a:lnTo>
                  <a:pt x="10920886" y="0"/>
                </a:lnTo>
                <a:lnTo>
                  <a:pt x="0" y="0"/>
                </a:lnTo>
                <a:lnTo>
                  <a:pt x="0" y="579799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477200" y="-1634502"/>
            <a:ext cx="2726942" cy="3157131"/>
            <a:chOff x="0" y="0"/>
            <a:chExt cx="211633" cy="2450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633" cy="245019"/>
            </a:xfrm>
            <a:custGeom>
              <a:avLst/>
              <a:gdLst/>
              <a:ahLst/>
              <a:cxnLst/>
              <a:rect r="r" b="b" t="t" l="l"/>
              <a:pathLst>
                <a:path h="245019" w="211633">
                  <a:moveTo>
                    <a:pt x="0" y="0"/>
                  </a:moveTo>
                  <a:lnTo>
                    <a:pt x="211633" y="0"/>
                  </a:lnTo>
                  <a:lnTo>
                    <a:pt x="211633" y="245019"/>
                  </a:lnTo>
                  <a:lnTo>
                    <a:pt x="0" y="245019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1633" cy="283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true" rot="0">
            <a:off x="-1399891" y="-2153063"/>
            <a:ext cx="3767262" cy="3954187"/>
          </a:xfrm>
          <a:custGeom>
            <a:avLst/>
            <a:gdLst/>
            <a:ahLst/>
            <a:cxnLst/>
            <a:rect r="r" b="b" t="t" l="l"/>
            <a:pathLst>
              <a:path h="3954187" w="3767262">
                <a:moveTo>
                  <a:pt x="3767262" y="3954187"/>
                </a:moveTo>
                <a:lnTo>
                  <a:pt x="0" y="3954187"/>
                </a:lnTo>
                <a:lnTo>
                  <a:pt x="0" y="0"/>
                </a:lnTo>
                <a:lnTo>
                  <a:pt x="3767262" y="0"/>
                </a:lnTo>
                <a:lnTo>
                  <a:pt x="3767262" y="395418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497562" y="-1634502"/>
            <a:ext cx="10472724" cy="3435626"/>
            <a:chOff x="0" y="0"/>
            <a:chExt cx="812770" cy="2666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770" cy="266633"/>
            </a:xfrm>
            <a:custGeom>
              <a:avLst/>
              <a:gdLst/>
              <a:ahLst/>
              <a:cxnLst/>
              <a:rect r="r" b="b" t="t" l="l"/>
              <a:pathLst>
                <a:path h="266633" w="812770">
                  <a:moveTo>
                    <a:pt x="0" y="0"/>
                  </a:moveTo>
                  <a:lnTo>
                    <a:pt x="812770" y="0"/>
                  </a:lnTo>
                  <a:lnTo>
                    <a:pt x="812770" y="266633"/>
                  </a:lnTo>
                  <a:lnTo>
                    <a:pt x="0" y="266633"/>
                  </a:lnTo>
                  <a:close/>
                </a:path>
              </a:pathLst>
            </a:custGeom>
            <a:solidFill>
              <a:srgbClr val="004AAD">
                <a:alpha val="8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770" cy="304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675609" y="7562300"/>
            <a:ext cx="9903583" cy="5257902"/>
          </a:xfrm>
          <a:custGeom>
            <a:avLst/>
            <a:gdLst/>
            <a:ahLst/>
            <a:cxnLst/>
            <a:rect r="r" b="b" t="t" l="l"/>
            <a:pathLst>
              <a:path h="5257902" w="9903583">
                <a:moveTo>
                  <a:pt x="0" y="0"/>
                </a:moveTo>
                <a:lnTo>
                  <a:pt x="9903583" y="0"/>
                </a:lnTo>
                <a:lnTo>
                  <a:pt x="9903583" y="5257902"/>
                </a:lnTo>
                <a:lnTo>
                  <a:pt x="0" y="5257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73834" y="2963357"/>
            <a:ext cx="14740332" cy="6294943"/>
          </a:xfrm>
          <a:custGeom>
            <a:avLst/>
            <a:gdLst/>
            <a:ahLst/>
            <a:cxnLst/>
            <a:rect r="r" b="b" t="t" l="l"/>
            <a:pathLst>
              <a:path h="6294943" w="14740332">
                <a:moveTo>
                  <a:pt x="0" y="0"/>
                </a:moveTo>
                <a:lnTo>
                  <a:pt x="14740332" y="0"/>
                </a:lnTo>
                <a:lnTo>
                  <a:pt x="14740332" y="6294943"/>
                </a:lnTo>
                <a:lnTo>
                  <a:pt x="0" y="62949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231780" y="9640762"/>
            <a:ext cx="6055040" cy="35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</a:pPr>
            <a:r>
              <a:rPr lang="en-US" sz="3000">
                <a:solidFill>
                  <a:srgbClr val="22303D"/>
                </a:solidFill>
                <a:latin typeface="Anantason"/>
                <a:ea typeface="Anantason"/>
                <a:cs typeface="Anantason"/>
                <a:sym typeface="Anantason"/>
              </a:rPr>
              <a:t>หน้าที่  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35399" y="783971"/>
            <a:ext cx="7108601" cy="67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6"/>
              </a:lnSpc>
            </a:pPr>
            <a:r>
              <a:rPr lang="en-US" sz="5600" b="true">
                <a:solidFill>
                  <a:srgbClr val="004AAD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ตัวอย่าง Test Cases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61342" y="1883543"/>
            <a:ext cx="7736220" cy="101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2"/>
              </a:lnSpc>
            </a:pPr>
            <a:r>
              <a:rPr lang="en-US" sz="24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TC-005: SQL Injection — ป้องกัน security attack</a:t>
            </a:r>
          </a:p>
          <a:p>
            <a:pPr algn="l">
              <a:lnSpc>
                <a:spcPts val="4152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6937643" y="7720628"/>
            <a:ext cx="10920886" cy="5797998"/>
          </a:xfrm>
          <a:custGeom>
            <a:avLst/>
            <a:gdLst/>
            <a:ahLst/>
            <a:cxnLst/>
            <a:rect r="r" b="b" t="t" l="l"/>
            <a:pathLst>
              <a:path h="5797998" w="10920886">
                <a:moveTo>
                  <a:pt x="10920886" y="0"/>
                </a:moveTo>
                <a:lnTo>
                  <a:pt x="0" y="0"/>
                </a:lnTo>
                <a:lnTo>
                  <a:pt x="0" y="5797998"/>
                </a:lnTo>
                <a:lnTo>
                  <a:pt x="10920886" y="5797998"/>
                </a:lnTo>
                <a:lnTo>
                  <a:pt x="109208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118047" y="-2461674"/>
            <a:ext cx="10920886" cy="5797998"/>
          </a:xfrm>
          <a:custGeom>
            <a:avLst/>
            <a:gdLst/>
            <a:ahLst/>
            <a:cxnLst/>
            <a:rect r="r" b="b" t="t" l="l"/>
            <a:pathLst>
              <a:path h="5797998" w="10920886">
                <a:moveTo>
                  <a:pt x="0" y="5797998"/>
                </a:moveTo>
                <a:lnTo>
                  <a:pt x="10920886" y="5797998"/>
                </a:lnTo>
                <a:lnTo>
                  <a:pt x="10920886" y="0"/>
                </a:lnTo>
                <a:lnTo>
                  <a:pt x="0" y="0"/>
                </a:lnTo>
                <a:lnTo>
                  <a:pt x="0" y="579799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477200" y="-1634502"/>
            <a:ext cx="2726942" cy="3157131"/>
            <a:chOff x="0" y="0"/>
            <a:chExt cx="211633" cy="2450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633" cy="245019"/>
            </a:xfrm>
            <a:custGeom>
              <a:avLst/>
              <a:gdLst/>
              <a:ahLst/>
              <a:cxnLst/>
              <a:rect r="r" b="b" t="t" l="l"/>
              <a:pathLst>
                <a:path h="245019" w="211633">
                  <a:moveTo>
                    <a:pt x="0" y="0"/>
                  </a:moveTo>
                  <a:lnTo>
                    <a:pt x="211633" y="0"/>
                  </a:lnTo>
                  <a:lnTo>
                    <a:pt x="211633" y="245019"/>
                  </a:lnTo>
                  <a:lnTo>
                    <a:pt x="0" y="245019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1633" cy="283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true" rot="0">
            <a:off x="-1399891" y="-2153063"/>
            <a:ext cx="3767262" cy="3954187"/>
          </a:xfrm>
          <a:custGeom>
            <a:avLst/>
            <a:gdLst/>
            <a:ahLst/>
            <a:cxnLst/>
            <a:rect r="r" b="b" t="t" l="l"/>
            <a:pathLst>
              <a:path h="3954187" w="3767262">
                <a:moveTo>
                  <a:pt x="3767262" y="3954187"/>
                </a:moveTo>
                <a:lnTo>
                  <a:pt x="0" y="3954187"/>
                </a:lnTo>
                <a:lnTo>
                  <a:pt x="0" y="0"/>
                </a:lnTo>
                <a:lnTo>
                  <a:pt x="3767262" y="0"/>
                </a:lnTo>
                <a:lnTo>
                  <a:pt x="3767262" y="395418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497562" y="-1634502"/>
            <a:ext cx="10472724" cy="3435626"/>
            <a:chOff x="0" y="0"/>
            <a:chExt cx="812770" cy="2666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770" cy="266633"/>
            </a:xfrm>
            <a:custGeom>
              <a:avLst/>
              <a:gdLst/>
              <a:ahLst/>
              <a:cxnLst/>
              <a:rect r="r" b="b" t="t" l="l"/>
              <a:pathLst>
                <a:path h="266633" w="812770">
                  <a:moveTo>
                    <a:pt x="0" y="0"/>
                  </a:moveTo>
                  <a:lnTo>
                    <a:pt x="812770" y="0"/>
                  </a:lnTo>
                  <a:lnTo>
                    <a:pt x="812770" y="266633"/>
                  </a:lnTo>
                  <a:lnTo>
                    <a:pt x="0" y="266633"/>
                  </a:lnTo>
                  <a:close/>
                </a:path>
              </a:pathLst>
            </a:custGeom>
            <a:solidFill>
              <a:srgbClr val="004AAD">
                <a:alpha val="8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770" cy="304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675609" y="7562300"/>
            <a:ext cx="9903583" cy="5257902"/>
          </a:xfrm>
          <a:custGeom>
            <a:avLst/>
            <a:gdLst/>
            <a:ahLst/>
            <a:cxnLst/>
            <a:rect r="r" b="b" t="t" l="l"/>
            <a:pathLst>
              <a:path h="5257902" w="9903583">
                <a:moveTo>
                  <a:pt x="0" y="0"/>
                </a:moveTo>
                <a:lnTo>
                  <a:pt x="9903583" y="0"/>
                </a:lnTo>
                <a:lnTo>
                  <a:pt x="9903583" y="5257902"/>
                </a:lnTo>
                <a:lnTo>
                  <a:pt x="0" y="5257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49742" y="3103124"/>
            <a:ext cx="14891929" cy="5933196"/>
          </a:xfrm>
          <a:custGeom>
            <a:avLst/>
            <a:gdLst/>
            <a:ahLst/>
            <a:cxnLst/>
            <a:rect r="r" b="b" t="t" l="l"/>
            <a:pathLst>
              <a:path h="5933196" w="14891929">
                <a:moveTo>
                  <a:pt x="0" y="0"/>
                </a:moveTo>
                <a:lnTo>
                  <a:pt x="14891929" y="0"/>
                </a:lnTo>
                <a:lnTo>
                  <a:pt x="14891929" y="5933196"/>
                </a:lnTo>
                <a:lnTo>
                  <a:pt x="0" y="59331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231780" y="9640762"/>
            <a:ext cx="6055040" cy="35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</a:pPr>
            <a:r>
              <a:rPr lang="en-US" sz="3000">
                <a:solidFill>
                  <a:srgbClr val="22303D"/>
                </a:solidFill>
                <a:latin typeface="Anantason"/>
                <a:ea typeface="Anantason"/>
                <a:cs typeface="Anantason"/>
                <a:sym typeface="Anantason"/>
              </a:rPr>
              <a:t>หน้าที่  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35399" y="783971"/>
            <a:ext cx="7108601" cy="67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6"/>
              </a:lnSpc>
            </a:pPr>
            <a:r>
              <a:rPr lang="en-US" sz="5600" b="true">
                <a:solidFill>
                  <a:srgbClr val="004AAD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ตัวอย่าง Test Cases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61342" y="2093093"/>
            <a:ext cx="7736220" cy="101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2"/>
              </a:lnSpc>
            </a:pPr>
            <a:r>
              <a:rPr lang="en-US" sz="24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TC-007: SQL Injection — ป้องกัน security attack</a:t>
            </a:r>
          </a:p>
          <a:p>
            <a:pPr algn="l">
              <a:lnSpc>
                <a:spcPts val="4152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304672" y="5499993"/>
            <a:ext cx="10141837" cy="5384393"/>
          </a:xfrm>
          <a:custGeom>
            <a:avLst/>
            <a:gdLst/>
            <a:ahLst/>
            <a:cxnLst/>
            <a:rect r="r" b="b" t="t" l="l"/>
            <a:pathLst>
              <a:path h="5384393" w="10141837">
                <a:moveTo>
                  <a:pt x="10141837" y="0"/>
                </a:moveTo>
                <a:lnTo>
                  <a:pt x="0" y="0"/>
                </a:lnTo>
                <a:lnTo>
                  <a:pt x="0" y="5384393"/>
                </a:lnTo>
                <a:lnTo>
                  <a:pt x="10141837" y="5384393"/>
                </a:lnTo>
                <a:lnTo>
                  <a:pt x="1014183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75609" y="7562300"/>
            <a:ext cx="9903583" cy="5257902"/>
          </a:xfrm>
          <a:custGeom>
            <a:avLst/>
            <a:gdLst/>
            <a:ahLst/>
            <a:cxnLst/>
            <a:rect r="r" b="b" t="t" l="l"/>
            <a:pathLst>
              <a:path h="5257902" w="9903583">
                <a:moveTo>
                  <a:pt x="0" y="0"/>
                </a:moveTo>
                <a:lnTo>
                  <a:pt x="9903583" y="0"/>
                </a:lnTo>
                <a:lnTo>
                  <a:pt x="9903583" y="5257902"/>
                </a:lnTo>
                <a:lnTo>
                  <a:pt x="0" y="5257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5250101" y="-3476143"/>
            <a:ext cx="9903583" cy="5257902"/>
          </a:xfrm>
          <a:custGeom>
            <a:avLst/>
            <a:gdLst/>
            <a:ahLst/>
            <a:cxnLst/>
            <a:rect r="r" b="b" t="t" l="l"/>
            <a:pathLst>
              <a:path h="5257902" w="9903583">
                <a:moveTo>
                  <a:pt x="0" y="5257902"/>
                </a:moveTo>
                <a:lnTo>
                  <a:pt x="9903583" y="5257902"/>
                </a:lnTo>
                <a:lnTo>
                  <a:pt x="9903583" y="0"/>
                </a:lnTo>
                <a:lnTo>
                  <a:pt x="0" y="0"/>
                </a:lnTo>
                <a:lnTo>
                  <a:pt x="0" y="52579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660842" y="5374213"/>
            <a:ext cx="220117" cy="220117"/>
          </a:xfrm>
          <a:custGeom>
            <a:avLst/>
            <a:gdLst/>
            <a:ahLst/>
            <a:cxnLst/>
            <a:rect r="r" b="b" t="t" l="l"/>
            <a:pathLst>
              <a:path h="220117" w="220117">
                <a:moveTo>
                  <a:pt x="0" y="0"/>
                </a:moveTo>
                <a:lnTo>
                  <a:pt x="220116" y="0"/>
                </a:lnTo>
                <a:lnTo>
                  <a:pt x="220116" y="220117"/>
                </a:lnTo>
                <a:lnTo>
                  <a:pt x="0" y="2201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17100" y="3879713"/>
            <a:ext cx="7253800" cy="149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49"/>
              </a:lnSpc>
            </a:pPr>
            <a:r>
              <a:rPr lang="en-US" sz="8749" b="true">
                <a:solidFill>
                  <a:srgbClr val="004AAD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Q&amp;A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74696" y="5579522"/>
            <a:ext cx="8138608" cy="35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</a:pPr>
            <a:r>
              <a:rPr lang="en-US" sz="3000">
                <a:solidFill>
                  <a:srgbClr val="22303D"/>
                </a:solidFill>
                <a:latin typeface="Anantason"/>
                <a:ea typeface="Anantason"/>
                <a:cs typeface="Anantason"/>
                <a:sym typeface="Anantason"/>
              </a:rPr>
              <a:t>Software Testing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036620" y="8312772"/>
            <a:ext cx="1344870" cy="1344870"/>
          </a:xfrm>
          <a:custGeom>
            <a:avLst/>
            <a:gdLst/>
            <a:ahLst/>
            <a:cxnLst/>
            <a:rect r="r" b="b" t="t" l="l"/>
            <a:pathLst>
              <a:path h="1344870" w="1344870">
                <a:moveTo>
                  <a:pt x="0" y="0"/>
                </a:moveTo>
                <a:lnTo>
                  <a:pt x="1344870" y="0"/>
                </a:lnTo>
                <a:lnTo>
                  <a:pt x="1344870" y="1344871"/>
                </a:lnTo>
                <a:lnTo>
                  <a:pt x="0" y="13448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36620" y="8503436"/>
            <a:ext cx="1154207" cy="1154207"/>
          </a:xfrm>
          <a:custGeom>
            <a:avLst/>
            <a:gdLst/>
            <a:ahLst/>
            <a:cxnLst/>
            <a:rect r="r" b="b" t="t" l="l"/>
            <a:pathLst>
              <a:path h="1154207" w="1154207">
                <a:moveTo>
                  <a:pt x="0" y="0"/>
                </a:moveTo>
                <a:lnTo>
                  <a:pt x="1154207" y="0"/>
                </a:lnTo>
                <a:lnTo>
                  <a:pt x="1154207" y="1154207"/>
                </a:lnTo>
                <a:lnTo>
                  <a:pt x="0" y="11542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-1399891" y="-2153063"/>
            <a:ext cx="3767262" cy="3954187"/>
          </a:xfrm>
          <a:custGeom>
            <a:avLst/>
            <a:gdLst/>
            <a:ahLst/>
            <a:cxnLst/>
            <a:rect r="r" b="b" t="t" l="l"/>
            <a:pathLst>
              <a:path h="3954187" w="3767262">
                <a:moveTo>
                  <a:pt x="3767262" y="3954187"/>
                </a:moveTo>
                <a:lnTo>
                  <a:pt x="0" y="3954187"/>
                </a:lnTo>
                <a:lnTo>
                  <a:pt x="0" y="0"/>
                </a:lnTo>
                <a:lnTo>
                  <a:pt x="3767262" y="0"/>
                </a:lnTo>
                <a:lnTo>
                  <a:pt x="3767262" y="395418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9368877">
            <a:off x="15914430" y="578441"/>
            <a:ext cx="1344870" cy="1344870"/>
          </a:xfrm>
          <a:custGeom>
            <a:avLst/>
            <a:gdLst/>
            <a:ahLst/>
            <a:cxnLst/>
            <a:rect r="r" b="b" t="t" l="l"/>
            <a:pathLst>
              <a:path h="1344870" w="1344870">
                <a:moveTo>
                  <a:pt x="0" y="0"/>
                </a:moveTo>
                <a:lnTo>
                  <a:pt x="1344870" y="0"/>
                </a:lnTo>
                <a:lnTo>
                  <a:pt x="1344870" y="1344871"/>
                </a:lnTo>
                <a:lnTo>
                  <a:pt x="0" y="13448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9368877">
            <a:off x="16058401" y="548033"/>
            <a:ext cx="1154207" cy="1154207"/>
          </a:xfrm>
          <a:custGeom>
            <a:avLst/>
            <a:gdLst/>
            <a:ahLst/>
            <a:cxnLst/>
            <a:rect r="r" b="b" t="t" l="l"/>
            <a:pathLst>
              <a:path h="1154207" w="1154207">
                <a:moveTo>
                  <a:pt x="0" y="0"/>
                </a:moveTo>
                <a:lnTo>
                  <a:pt x="1154207" y="0"/>
                </a:lnTo>
                <a:lnTo>
                  <a:pt x="1154207" y="1154207"/>
                </a:lnTo>
                <a:lnTo>
                  <a:pt x="0" y="11542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60121" y="1661756"/>
            <a:ext cx="12227879" cy="8625244"/>
            <a:chOff x="0" y="0"/>
            <a:chExt cx="13657357" cy="96335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57357" cy="9633563"/>
            </a:xfrm>
            <a:custGeom>
              <a:avLst/>
              <a:gdLst/>
              <a:ahLst/>
              <a:cxnLst/>
              <a:rect r="r" b="b" t="t" l="l"/>
              <a:pathLst>
                <a:path h="9633563" w="13657357">
                  <a:moveTo>
                    <a:pt x="0" y="9633563"/>
                  </a:moveTo>
                  <a:lnTo>
                    <a:pt x="13657357" y="9633563"/>
                  </a:lnTo>
                  <a:lnTo>
                    <a:pt x="13657357" y="0"/>
                  </a:lnTo>
                  <a:cubicBezTo>
                    <a:pt x="6115764" y="0"/>
                    <a:pt x="0" y="4313909"/>
                    <a:pt x="0" y="9633563"/>
                  </a:cubicBezTo>
                  <a:close/>
                </a:path>
              </a:pathLst>
            </a:custGeom>
            <a:blipFill>
              <a:blip r:embed="rId2"/>
              <a:stretch>
                <a:fillRect l="-17178" t="0" r="-1717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031530" y="6339708"/>
            <a:ext cx="7256470" cy="4769932"/>
            <a:chOff x="0" y="0"/>
            <a:chExt cx="14655482" cy="9633563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14655482" cy="9633563"/>
            </a:xfrm>
            <a:custGeom>
              <a:avLst/>
              <a:gdLst/>
              <a:ahLst/>
              <a:cxnLst/>
              <a:rect r="r" b="b" t="t" l="l"/>
              <a:pathLst>
                <a:path h="9633563" w="14655482">
                  <a:moveTo>
                    <a:pt x="14655482" y="9633563"/>
                  </a:moveTo>
                  <a:lnTo>
                    <a:pt x="0" y="9633563"/>
                  </a:lnTo>
                  <a:lnTo>
                    <a:pt x="0" y="0"/>
                  </a:lnTo>
                  <a:cubicBezTo>
                    <a:pt x="8092757" y="0"/>
                    <a:pt x="14655482" y="4313909"/>
                    <a:pt x="14655482" y="9633563"/>
                  </a:cubicBezTo>
                  <a:close/>
                </a:path>
              </a:pathLst>
            </a:custGeom>
            <a:solidFill>
              <a:srgbClr val="004AAD">
                <a:alpha val="89804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true" rot="0">
            <a:off x="14964968" y="-2395678"/>
            <a:ext cx="11621206" cy="6169804"/>
          </a:xfrm>
          <a:custGeom>
            <a:avLst/>
            <a:gdLst/>
            <a:ahLst/>
            <a:cxnLst/>
            <a:rect r="r" b="b" t="t" l="l"/>
            <a:pathLst>
              <a:path h="6169804" w="11621206">
                <a:moveTo>
                  <a:pt x="0" y="6169804"/>
                </a:moveTo>
                <a:lnTo>
                  <a:pt x="11621206" y="6169804"/>
                </a:lnTo>
                <a:lnTo>
                  <a:pt x="11621206" y="0"/>
                </a:lnTo>
                <a:lnTo>
                  <a:pt x="0" y="0"/>
                </a:lnTo>
                <a:lnTo>
                  <a:pt x="0" y="616980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8469518" y="7481959"/>
            <a:ext cx="11819984" cy="6275337"/>
          </a:xfrm>
          <a:custGeom>
            <a:avLst/>
            <a:gdLst/>
            <a:ahLst/>
            <a:cxnLst/>
            <a:rect r="r" b="b" t="t" l="l"/>
            <a:pathLst>
              <a:path h="6275337" w="11819984">
                <a:moveTo>
                  <a:pt x="11819984" y="0"/>
                </a:moveTo>
                <a:lnTo>
                  <a:pt x="0" y="0"/>
                </a:lnTo>
                <a:lnTo>
                  <a:pt x="0" y="6275337"/>
                </a:lnTo>
                <a:lnTo>
                  <a:pt x="11819984" y="6275337"/>
                </a:lnTo>
                <a:lnTo>
                  <a:pt x="1181998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307909" y="6992492"/>
            <a:ext cx="1456272" cy="1456272"/>
          </a:xfrm>
          <a:custGeom>
            <a:avLst/>
            <a:gdLst/>
            <a:ahLst/>
            <a:cxnLst/>
            <a:rect r="r" b="b" t="t" l="l"/>
            <a:pathLst>
              <a:path h="1456272" w="1456272">
                <a:moveTo>
                  <a:pt x="0" y="0"/>
                </a:moveTo>
                <a:lnTo>
                  <a:pt x="1456272" y="0"/>
                </a:lnTo>
                <a:lnTo>
                  <a:pt x="1456272" y="1456273"/>
                </a:lnTo>
                <a:lnTo>
                  <a:pt x="0" y="14562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47006" y="7207950"/>
            <a:ext cx="1025358" cy="1025358"/>
          </a:xfrm>
          <a:custGeom>
            <a:avLst/>
            <a:gdLst/>
            <a:ahLst/>
            <a:cxnLst/>
            <a:rect r="r" b="b" t="t" l="l"/>
            <a:pathLst>
              <a:path h="1025358" w="1025358">
                <a:moveTo>
                  <a:pt x="0" y="0"/>
                </a:moveTo>
                <a:lnTo>
                  <a:pt x="1025357" y="0"/>
                </a:lnTo>
                <a:lnTo>
                  <a:pt x="1025357" y="1025357"/>
                </a:lnTo>
                <a:lnTo>
                  <a:pt x="0" y="10253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-1399891" y="-2153063"/>
            <a:ext cx="3767262" cy="3954187"/>
          </a:xfrm>
          <a:custGeom>
            <a:avLst/>
            <a:gdLst/>
            <a:ahLst/>
            <a:cxnLst/>
            <a:rect r="r" b="b" t="t" l="l"/>
            <a:pathLst>
              <a:path h="3954187" w="3767262">
                <a:moveTo>
                  <a:pt x="3767262" y="3954187"/>
                </a:moveTo>
                <a:lnTo>
                  <a:pt x="0" y="3954187"/>
                </a:lnTo>
                <a:lnTo>
                  <a:pt x="0" y="0"/>
                </a:lnTo>
                <a:lnTo>
                  <a:pt x="3767262" y="0"/>
                </a:lnTo>
                <a:lnTo>
                  <a:pt x="3767262" y="3954187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579015" y="2184141"/>
            <a:ext cx="11610544" cy="239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6"/>
              </a:lnSpc>
            </a:pPr>
            <a:r>
              <a:rPr lang="en-US" sz="14004" b="true">
                <a:solidFill>
                  <a:srgbClr val="004AAD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DAGyol460as</dc:identifier>
  <dcterms:modified xsi:type="dcterms:W3CDTF">2011-08-01T06:04:30Z</dcterms:modified>
  <cp:revision>1</cp:revision>
  <dc:title>VR for PLCnext Training</dc:title>
</cp:coreProperties>
</file>